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86" r:id="rId5"/>
    <p:sldId id="327" r:id="rId6"/>
    <p:sldId id="276" r:id="rId7"/>
    <p:sldId id="352" r:id="rId8"/>
    <p:sldId id="359" r:id="rId9"/>
    <p:sldId id="309" r:id="rId10"/>
    <p:sldId id="346" r:id="rId11"/>
    <p:sldId id="294"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38" userDrawn="1">
          <p15:clr>
            <a:srgbClr val="A4A3A4"/>
          </p15:clr>
        </p15:guide>
        <p15:guide id="2" pos="382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1065" autoAdjust="0"/>
  </p:normalViewPr>
  <p:slideViewPr>
    <p:cSldViewPr snapToGrid="0" showGuides="1">
      <p:cViewPr varScale="1">
        <p:scale>
          <a:sx n="75" d="100"/>
          <a:sy n="75" d="100"/>
        </p:scale>
        <p:origin x="946" y="53"/>
      </p:cViewPr>
      <p:guideLst>
        <p:guide orient="horz" pos="2238"/>
        <p:guide pos="3824"/>
      </p:guideLst>
    </p:cSldViewPr>
  </p:slideViewPr>
  <p:notesTextViewPr>
    <p:cViewPr>
      <p:scale>
        <a:sx n="1" d="1"/>
        <a:sy n="1" d="1"/>
      </p:scale>
      <p:origin x="0" y="0"/>
    </p:cViewPr>
  </p:notesTextViewPr>
  <p:sorterViewPr>
    <p:cViewPr>
      <p:scale>
        <a:sx n="100" d="100"/>
        <a:sy n="100" d="100"/>
      </p:scale>
      <p:origin x="0" y="-5172"/>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88B16F-E233-4296-9BD6-0B1C2E9D4876}"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49BD85E-6015-4492-8F0B-E838F8B49849}"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49BD85E-6015-4492-8F0B-E838F8B49849}" type="slidenum">
              <a:rPr lang="en-US" smtClean="0"/>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04" name="Slide Image Placeholder 1"/>
          <p:cNvSpPr>
            <a:spLocks noGrp="1" noRot="1" noChangeAspect="1"/>
          </p:cNvSpPr>
          <p:nvPr>
            <p:ph type="sldImg"/>
          </p:nvPr>
        </p:nvSpPr>
        <p:spPr/>
      </p:sp>
      <p:sp>
        <p:nvSpPr>
          <p:cNvPr id="1048705" name="Notes Placeholder 2"/>
          <p:cNvSpPr>
            <a:spLocks noGrp="1"/>
          </p:cNvSpPr>
          <p:nvPr>
            <p:ph type="body" idx="1"/>
          </p:nvPr>
        </p:nvSpPr>
        <p:spPr/>
        <p:txBody>
          <a:bodyPr>
            <a:normAutofit/>
          </a:bodyPr>
          <a:lstStyle/>
          <a:p>
            <a:endParaRPr lang="en-IN" dirty="0"/>
          </a:p>
        </p:txBody>
      </p:sp>
      <p:sp>
        <p:nvSpPr>
          <p:cNvPr id="1048706" name="Slide Number Placeholder 3"/>
          <p:cNvSpPr>
            <a:spLocks noGrp="1"/>
          </p:cNvSpPr>
          <p:nvPr>
            <p:ph type="sldNum" sz="quarter" idx="10"/>
          </p:nvPr>
        </p:nvSpPr>
        <p:spPr/>
        <p:txBody>
          <a:bodyPr/>
          <a:lstStyle/>
          <a:p>
            <a:fld id="{A49BD85E-6015-4492-8F0B-E838F8B49849}" type="slidenum">
              <a:rPr lang="en-US" smtClean="0"/>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30F85FF9-97E4-43EE-9968-8E63FAA47772}" type="datetime2">
              <a:rPr lang="en-US" smtClean="0"/>
            </a:fld>
            <a:endParaRPr lang="en-US"/>
          </a:p>
        </p:txBody>
      </p:sp>
      <p:sp>
        <p:nvSpPr>
          <p:cNvPr id="5" name="Footer Placeholder 4"/>
          <p:cNvSpPr>
            <a:spLocks noGrp="1"/>
          </p:cNvSpPr>
          <p:nvPr>
            <p:ph type="ftr" sz="quarter" idx="11"/>
          </p:nvPr>
        </p:nvSpPr>
        <p:spPr/>
        <p:txBody>
          <a:bodyPr/>
          <a:lstStyle/>
          <a:p>
            <a:r>
              <a:rPr lang="en-IN"/>
              <a:t>Prediction of Diabetes disease using Machine Learning</a:t>
            </a:r>
            <a:endParaRPr lang="en-US"/>
          </a:p>
        </p:txBody>
      </p:sp>
      <p:sp>
        <p:nvSpPr>
          <p:cNvPr id="6" name="Slide Number Placeholder 5"/>
          <p:cNvSpPr>
            <a:spLocks noGrp="1"/>
          </p:cNvSpPr>
          <p:nvPr>
            <p:ph type="sldNum" sz="quarter" idx="12"/>
          </p:nvPr>
        </p:nvSpPr>
        <p:spPr/>
        <p:txBody>
          <a:bodyPr/>
          <a:lstStyle/>
          <a:p>
            <a:fld id="{509340C6-7706-4CF4-A503-B5971061AAE8}"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9A02BB74-09E2-4639-AF23-E1A3354695D8}" type="datetime2">
              <a:rPr lang="en-US" smtClean="0"/>
            </a:fld>
            <a:endParaRPr lang="en-US"/>
          </a:p>
        </p:txBody>
      </p:sp>
      <p:sp>
        <p:nvSpPr>
          <p:cNvPr id="5" name="Footer Placeholder 4"/>
          <p:cNvSpPr>
            <a:spLocks noGrp="1"/>
          </p:cNvSpPr>
          <p:nvPr>
            <p:ph type="ftr" sz="quarter" idx="11"/>
          </p:nvPr>
        </p:nvSpPr>
        <p:spPr/>
        <p:txBody>
          <a:bodyPr/>
          <a:lstStyle/>
          <a:p>
            <a:r>
              <a:rPr lang="en-IN"/>
              <a:t>Prediction of Diabetes disease using Machine Learning</a:t>
            </a:r>
            <a:endParaRPr lang="en-US"/>
          </a:p>
        </p:txBody>
      </p:sp>
      <p:sp>
        <p:nvSpPr>
          <p:cNvPr id="6" name="Slide Number Placeholder 5"/>
          <p:cNvSpPr>
            <a:spLocks noGrp="1"/>
          </p:cNvSpPr>
          <p:nvPr>
            <p:ph type="sldNum" sz="quarter" idx="12"/>
          </p:nvPr>
        </p:nvSpPr>
        <p:spPr/>
        <p:txBody>
          <a:bodyPr/>
          <a:lstStyle/>
          <a:p>
            <a:fld id="{509340C6-7706-4CF4-A503-B5971061AAE8}"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F0477D0E-D203-4380-AA47-F0BC6639167E}" type="datetime2">
              <a:rPr lang="en-US" smtClean="0"/>
            </a:fld>
            <a:endParaRPr lang="en-US"/>
          </a:p>
        </p:txBody>
      </p:sp>
      <p:sp>
        <p:nvSpPr>
          <p:cNvPr id="5" name="Footer Placeholder 4"/>
          <p:cNvSpPr>
            <a:spLocks noGrp="1"/>
          </p:cNvSpPr>
          <p:nvPr>
            <p:ph type="ftr" sz="quarter" idx="11"/>
          </p:nvPr>
        </p:nvSpPr>
        <p:spPr/>
        <p:txBody>
          <a:bodyPr/>
          <a:lstStyle/>
          <a:p>
            <a:r>
              <a:rPr lang="en-IN"/>
              <a:t>Prediction of Diabetes disease using Machine Learning</a:t>
            </a:r>
            <a:endParaRPr lang="en-US"/>
          </a:p>
        </p:txBody>
      </p:sp>
      <p:sp>
        <p:nvSpPr>
          <p:cNvPr id="6" name="Slide Number Placeholder 5"/>
          <p:cNvSpPr>
            <a:spLocks noGrp="1"/>
          </p:cNvSpPr>
          <p:nvPr>
            <p:ph type="sldNum" sz="quarter" idx="12"/>
          </p:nvPr>
        </p:nvSpPr>
        <p:spPr/>
        <p:txBody>
          <a:bodyPr/>
          <a:lstStyle/>
          <a:p>
            <a:fld id="{509340C6-7706-4CF4-A503-B5971061AAE8}"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812800" y="1600203"/>
            <a:ext cx="7213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8229600" y="1600203"/>
            <a:ext cx="7213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6F804C01-493F-4C23-A447-B0022C15A316}" type="datetime2">
              <a:rPr lang="en-US" smtClean="0"/>
            </a:fld>
            <a:endParaRPr lang="en-US"/>
          </a:p>
        </p:txBody>
      </p:sp>
      <p:sp>
        <p:nvSpPr>
          <p:cNvPr id="6" name="Footer Placeholder 5"/>
          <p:cNvSpPr>
            <a:spLocks noGrp="1"/>
          </p:cNvSpPr>
          <p:nvPr>
            <p:ph type="ftr" sz="quarter" idx="11"/>
          </p:nvPr>
        </p:nvSpPr>
        <p:spPr/>
        <p:txBody>
          <a:bodyPr/>
          <a:lstStyle/>
          <a:p>
            <a:r>
              <a:rPr lang="en-IN"/>
              <a:t>Prediction of Diabetes disease using Machine Learning</a:t>
            </a:r>
            <a:endParaRPr lang="en-US"/>
          </a:p>
        </p:txBody>
      </p:sp>
      <p:sp>
        <p:nvSpPr>
          <p:cNvPr id="7" name="Slide Number Placeholder 6"/>
          <p:cNvSpPr>
            <a:spLocks noGrp="1"/>
          </p:cNvSpPr>
          <p:nvPr>
            <p:ph type="sldNum" sz="quarter" idx="12"/>
          </p:nvPr>
        </p:nvSpPr>
        <p:spPr/>
        <p:txBody>
          <a:bodyPr/>
          <a:lstStyle/>
          <a:p>
            <a:fld id="{509340C6-7706-4CF4-A503-B5971061AAE8}"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A07FCA5D-2E61-452E-8590-DCEA02CD2C63}" type="datetime2">
              <a:rPr lang="en-US" smtClean="0"/>
            </a:fld>
            <a:endParaRPr lang="en-US"/>
          </a:p>
        </p:txBody>
      </p:sp>
      <p:sp>
        <p:nvSpPr>
          <p:cNvPr id="8" name="Footer Placeholder 7"/>
          <p:cNvSpPr>
            <a:spLocks noGrp="1"/>
          </p:cNvSpPr>
          <p:nvPr>
            <p:ph type="ftr" sz="quarter" idx="11"/>
          </p:nvPr>
        </p:nvSpPr>
        <p:spPr/>
        <p:txBody>
          <a:bodyPr/>
          <a:lstStyle/>
          <a:p>
            <a:r>
              <a:rPr lang="en-IN"/>
              <a:t>Prediction of Diabetes disease using Machine Learning</a:t>
            </a:r>
            <a:endParaRPr lang="en-US"/>
          </a:p>
        </p:txBody>
      </p:sp>
      <p:sp>
        <p:nvSpPr>
          <p:cNvPr id="9" name="Slide Number Placeholder 8"/>
          <p:cNvSpPr>
            <a:spLocks noGrp="1"/>
          </p:cNvSpPr>
          <p:nvPr>
            <p:ph type="sldNum" sz="quarter" idx="12"/>
          </p:nvPr>
        </p:nvSpPr>
        <p:spPr/>
        <p:txBody>
          <a:bodyPr/>
          <a:lstStyle/>
          <a:p>
            <a:fld id="{509340C6-7706-4CF4-A503-B5971061AAE8}"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724EB372-56AF-4F5F-8C37-B2B9F2A7928A}" type="datetime2">
              <a:rPr lang="en-US" smtClean="0"/>
            </a:fld>
            <a:endParaRPr lang="en-US"/>
          </a:p>
        </p:txBody>
      </p:sp>
      <p:sp>
        <p:nvSpPr>
          <p:cNvPr id="4" name="Footer Placeholder 3"/>
          <p:cNvSpPr>
            <a:spLocks noGrp="1"/>
          </p:cNvSpPr>
          <p:nvPr>
            <p:ph type="ftr" sz="quarter" idx="11"/>
          </p:nvPr>
        </p:nvSpPr>
        <p:spPr/>
        <p:txBody>
          <a:bodyPr/>
          <a:lstStyle/>
          <a:p>
            <a:r>
              <a:rPr lang="en-IN"/>
              <a:t>Prediction of Diabetes disease using Machine Learning</a:t>
            </a:r>
            <a:endParaRPr lang="en-US"/>
          </a:p>
        </p:txBody>
      </p:sp>
      <p:sp>
        <p:nvSpPr>
          <p:cNvPr id="5" name="Slide Number Placeholder 4"/>
          <p:cNvSpPr>
            <a:spLocks noGrp="1"/>
          </p:cNvSpPr>
          <p:nvPr>
            <p:ph type="sldNum" sz="quarter" idx="12"/>
          </p:nvPr>
        </p:nvSpPr>
        <p:spPr/>
        <p:txBody>
          <a:bodyPr/>
          <a:lstStyle/>
          <a:p>
            <a:fld id="{509340C6-7706-4CF4-A503-B5971061AAE8}"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D6C5909-C0D6-4728-8966-F1133476C3D9}" type="datetime2">
              <a:rPr lang="en-US" smtClean="0"/>
            </a:fld>
            <a:endParaRPr lang="en-US"/>
          </a:p>
        </p:txBody>
      </p:sp>
      <p:sp>
        <p:nvSpPr>
          <p:cNvPr id="3" name="Footer Placeholder 2"/>
          <p:cNvSpPr>
            <a:spLocks noGrp="1"/>
          </p:cNvSpPr>
          <p:nvPr>
            <p:ph type="ftr" sz="quarter" idx="11"/>
          </p:nvPr>
        </p:nvSpPr>
        <p:spPr/>
        <p:txBody>
          <a:bodyPr/>
          <a:lstStyle/>
          <a:p>
            <a:r>
              <a:rPr lang="en-IN"/>
              <a:t>Prediction of Diabetes disease using Machine Learning</a:t>
            </a:r>
            <a:endParaRPr lang="en-US"/>
          </a:p>
        </p:txBody>
      </p:sp>
      <p:sp>
        <p:nvSpPr>
          <p:cNvPr id="4" name="Slide Number Placeholder 3"/>
          <p:cNvSpPr>
            <a:spLocks noGrp="1"/>
          </p:cNvSpPr>
          <p:nvPr>
            <p:ph type="sldNum" sz="quarter" idx="12"/>
          </p:nvPr>
        </p:nvSpPr>
        <p:spPr/>
        <p:txBody>
          <a:bodyPr/>
          <a:lstStyle/>
          <a:p>
            <a:fld id="{509340C6-7706-4CF4-A503-B5971061AAE8}"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E868EAC-72B4-402B-80E3-AEC6F8C3FFA6}" type="datetime2">
              <a:rPr lang="en-US" smtClean="0"/>
            </a:fld>
            <a:endParaRPr lang="en-US"/>
          </a:p>
        </p:txBody>
      </p:sp>
      <p:sp>
        <p:nvSpPr>
          <p:cNvPr id="6" name="Footer Placeholder 5"/>
          <p:cNvSpPr>
            <a:spLocks noGrp="1"/>
          </p:cNvSpPr>
          <p:nvPr>
            <p:ph type="ftr" sz="quarter" idx="11"/>
          </p:nvPr>
        </p:nvSpPr>
        <p:spPr/>
        <p:txBody>
          <a:bodyPr/>
          <a:lstStyle/>
          <a:p>
            <a:r>
              <a:rPr lang="en-IN"/>
              <a:t>Prediction of Diabetes disease using Machine Learning</a:t>
            </a:r>
            <a:endParaRPr lang="en-US"/>
          </a:p>
        </p:txBody>
      </p:sp>
      <p:sp>
        <p:nvSpPr>
          <p:cNvPr id="7" name="Slide Number Placeholder 6"/>
          <p:cNvSpPr>
            <a:spLocks noGrp="1"/>
          </p:cNvSpPr>
          <p:nvPr>
            <p:ph type="sldNum" sz="quarter" idx="12"/>
          </p:nvPr>
        </p:nvSpPr>
        <p:spPr/>
        <p:txBody>
          <a:bodyPr/>
          <a:lstStyle/>
          <a:p>
            <a:fld id="{509340C6-7706-4CF4-A503-B5971061AAE8}"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6C529DF4-7A80-4A36-9A86-D6C3F4198ADD}" type="datetime2">
              <a:rPr lang="en-US" smtClean="0"/>
            </a:fld>
            <a:endParaRPr lang="en-US"/>
          </a:p>
        </p:txBody>
      </p:sp>
      <p:sp>
        <p:nvSpPr>
          <p:cNvPr id="6" name="Footer Placeholder 5"/>
          <p:cNvSpPr>
            <a:spLocks noGrp="1"/>
          </p:cNvSpPr>
          <p:nvPr>
            <p:ph type="ftr" sz="quarter" idx="11"/>
          </p:nvPr>
        </p:nvSpPr>
        <p:spPr/>
        <p:txBody>
          <a:bodyPr/>
          <a:lstStyle/>
          <a:p>
            <a:r>
              <a:rPr lang="en-IN"/>
              <a:t>Prediction of Diabetes disease using Machine Learning</a:t>
            </a:r>
            <a:endParaRPr lang="en-US"/>
          </a:p>
        </p:txBody>
      </p:sp>
      <p:sp>
        <p:nvSpPr>
          <p:cNvPr id="7" name="Slide Number Placeholder 6"/>
          <p:cNvSpPr>
            <a:spLocks noGrp="1"/>
          </p:cNvSpPr>
          <p:nvPr>
            <p:ph type="sldNum" sz="quarter" idx="12"/>
          </p:nvPr>
        </p:nvSpPr>
        <p:spPr/>
        <p:txBody>
          <a:bodyPr/>
          <a:lstStyle/>
          <a:p>
            <a:fld id="{509340C6-7706-4CF4-A503-B5971061AAE8}"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AB7D54B5-8683-4513-8E3C-8299DA93ECCD}" type="datetime2">
              <a:rPr lang="en-US" smtClean="0"/>
            </a:fld>
            <a:endParaRPr lang="en-US"/>
          </a:p>
        </p:txBody>
      </p:sp>
      <p:sp>
        <p:nvSpPr>
          <p:cNvPr id="5" name="Footer Placeholder 4"/>
          <p:cNvSpPr>
            <a:spLocks noGrp="1"/>
          </p:cNvSpPr>
          <p:nvPr>
            <p:ph type="ftr" sz="quarter" idx="11"/>
          </p:nvPr>
        </p:nvSpPr>
        <p:spPr/>
        <p:txBody>
          <a:bodyPr/>
          <a:lstStyle/>
          <a:p>
            <a:r>
              <a:rPr lang="en-IN"/>
              <a:t>Prediction of Diabetes disease using Machine Learning</a:t>
            </a:r>
            <a:endParaRPr lang="en-US"/>
          </a:p>
        </p:txBody>
      </p:sp>
      <p:sp>
        <p:nvSpPr>
          <p:cNvPr id="6" name="Slide Number Placeholder 5"/>
          <p:cNvSpPr>
            <a:spLocks noGrp="1"/>
          </p:cNvSpPr>
          <p:nvPr>
            <p:ph type="sldNum" sz="quarter" idx="12"/>
          </p:nvPr>
        </p:nvSpPr>
        <p:spPr/>
        <p:txBody>
          <a:bodyPr/>
          <a:lstStyle/>
          <a:p>
            <a:fld id="{509340C6-7706-4CF4-A503-B5971061AAE8}"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785600" y="274641"/>
            <a:ext cx="36576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12800" y="274641"/>
            <a:ext cx="107696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E469AA8C-646D-4B7E-B42B-8F5C7C795307}" type="datetime2">
              <a:rPr lang="en-US" smtClean="0"/>
            </a:fld>
            <a:endParaRPr lang="en-US"/>
          </a:p>
        </p:txBody>
      </p:sp>
      <p:sp>
        <p:nvSpPr>
          <p:cNvPr id="5" name="Footer Placeholder 4"/>
          <p:cNvSpPr>
            <a:spLocks noGrp="1"/>
          </p:cNvSpPr>
          <p:nvPr>
            <p:ph type="ftr" sz="quarter" idx="11"/>
          </p:nvPr>
        </p:nvSpPr>
        <p:spPr/>
        <p:txBody>
          <a:bodyPr/>
          <a:lstStyle/>
          <a:p>
            <a:r>
              <a:rPr lang="en-IN"/>
              <a:t>Prediction of Diabetes disease using Machine Learning</a:t>
            </a:r>
            <a:endParaRPr lang="en-US"/>
          </a:p>
        </p:txBody>
      </p:sp>
      <p:sp>
        <p:nvSpPr>
          <p:cNvPr id="6" name="Slide Number Placeholder 5"/>
          <p:cNvSpPr>
            <a:spLocks noGrp="1"/>
          </p:cNvSpPr>
          <p:nvPr>
            <p:ph type="sldNum" sz="quarter" idx="12"/>
          </p:nvPr>
        </p:nvSpPr>
        <p:spPr/>
        <p:txBody>
          <a:bodyPr/>
          <a:lstStyle/>
          <a:p>
            <a:fld id="{509340C6-7706-4CF4-A503-B5971061AAE8}"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609600" y="1600203"/>
            <a:ext cx="109728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609600" y="6356353"/>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5B296CF-FC38-4FC4-B194-363AE6C05878}" type="datetime2">
              <a:rPr lang="en-US" smtClean="0"/>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Prediction of Diabetes disease using Machine Learning</a:t>
            </a:r>
            <a:endParaRPr lang="en-US"/>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9340C6-7706-4CF4-A503-B5971061AAE8}"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7" Type="http://schemas.openxmlformats.org/officeDocument/2006/relationships/notesSlide" Target="../notesSlides/notesSlide2.xml"/><Relationship Id="rId6" Type="http://schemas.openxmlformats.org/officeDocument/2006/relationships/slideLayout" Target="../slideLayouts/slideLayout7.xml"/><Relationship Id="rId5" Type="http://schemas.openxmlformats.org/officeDocument/2006/relationships/hyperlink" Target="%20https://www.tensorflow.org/lite" TargetMode="External"/><Relationship Id="rId4" Type="http://schemas.openxmlformats.org/officeDocument/2006/relationships/hyperlink" Target="https://docs.ultralytics.com/tasks/detect/" TargetMode="External"/><Relationship Id="rId3" Type="http://schemas.openxmlformats.org/officeDocument/2006/relationships/hyperlink" Target="https://www.phytec.com/product/phycam-m-mipi-csi-2/" TargetMode="External"/><Relationship Id="rId2" Type="http://schemas.openxmlformats.org/officeDocument/2006/relationships/hyperlink" Target="https://www.phytec.de/cdocuments/?doc=LAC7Ig" TargetMode="External"/><Relationship Id="rId1" Type="http://schemas.openxmlformats.org/officeDocument/2006/relationships/hyperlink" Target="https://www.phytec.eu/en/produkte/system-on-modules/phycore-imx-8m-plus/#downloads/" TargetMode="External"/></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7.xml"/><Relationship Id="rId2" Type="http://schemas.openxmlformats.org/officeDocument/2006/relationships/image" Target="../media/image6.jpeg"/><Relationship Id="rId1" Type="http://schemas.openxmlformats.org/officeDocument/2006/relationships/image" Target="../media/image5.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
          <p:cNvSpPr/>
          <p:nvPr/>
        </p:nvSpPr>
        <p:spPr>
          <a:xfrm>
            <a:off x="3068256" y="1694860"/>
            <a:ext cx="8572288" cy="438121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latin typeface="Times New Roman" panose="02020603050405020304" pitchFamily="18" charset="0"/>
              <a:cs typeface="Times New Roman" panose="02020603050405020304" pitchFamily="18" charset="0"/>
            </a:endParaRPr>
          </a:p>
          <a:p>
            <a:pPr algn="ctr"/>
            <a:endParaRPr lang="en-US" sz="3200" dirty="0">
              <a:latin typeface="Times New Roman" panose="02020603050405020304" pitchFamily="18" charset="0"/>
              <a:cs typeface="Times New Roman" panose="02020603050405020304" pitchFamily="18" charset="0"/>
            </a:endParaRPr>
          </a:p>
          <a:p>
            <a:pPr algn="ctr"/>
            <a:endParaRPr lang="en-US" sz="3200" dirty="0">
              <a:latin typeface="Times New Roman" panose="02020603050405020304" pitchFamily="18" charset="0"/>
              <a:cs typeface="Times New Roman" panose="02020603050405020304" pitchFamily="18" charset="0"/>
            </a:endParaRPr>
          </a:p>
          <a:p>
            <a:pPr algn="ctr"/>
            <a:endParaRPr lang="en-US" sz="2800" dirty="0">
              <a:latin typeface="Times New Roman" panose="02020603050405020304" pitchFamily="18" charset="0"/>
              <a:cs typeface="Times New Roman" panose="02020603050405020304" pitchFamily="18" charset="0"/>
            </a:endParaRPr>
          </a:p>
        </p:txBody>
      </p:sp>
      <p:sp>
        <p:nvSpPr>
          <p:cNvPr id="8" name="Rectangle 3"/>
          <p:cNvSpPr/>
          <p:nvPr/>
        </p:nvSpPr>
        <p:spPr>
          <a:xfrm>
            <a:off x="711708" y="0"/>
            <a:ext cx="832513" cy="34290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IN" altLang="en-US" sz="3200" dirty="0">
                <a:latin typeface="Times New Roman" panose="02020603050405020304" pitchFamily="18" charset="0"/>
                <a:cs typeface="Times New Roman" panose="02020603050405020304" pitchFamily="18" charset="0"/>
              </a:rPr>
              <a:t>0</a:t>
            </a:r>
            <a:r>
              <a:rPr lang="en-US" sz="3200" dirty="0">
                <a:latin typeface="Times New Roman" panose="02020603050405020304" pitchFamily="18" charset="0"/>
                <a:cs typeface="Times New Roman" panose="02020603050405020304" pitchFamily="18" charset="0"/>
              </a:rPr>
              <a:t>th Review </a:t>
            </a:r>
            <a:endParaRPr lang="en-US" sz="3200" dirty="0">
              <a:latin typeface="Times New Roman" panose="02020603050405020304" pitchFamily="18" charset="0"/>
              <a:cs typeface="Times New Roman" panose="02020603050405020304" pitchFamily="18" charset="0"/>
            </a:endParaRPr>
          </a:p>
        </p:txBody>
      </p:sp>
      <p:sp>
        <p:nvSpPr>
          <p:cNvPr id="9" name="TextBox 6"/>
          <p:cNvSpPr txBox="1"/>
          <p:nvPr/>
        </p:nvSpPr>
        <p:spPr>
          <a:xfrm>
            <a:off x="3068256" y="386651"/>
            <a:ext cx="8862088" cy="738664"/>
          </a:xfrm>
          <a:prstGeom prst="rect">
            <a:avLst/>
          </a:prstGeom>
          <a:noFill/>
        </p:spPr>
        <p:txBody>
          <a:bodyPr wrap="square" rtlCol="0">
            <a:spAutoFit/>
          </a:bodyPr>
          <a:lstStyle/>
          <a:p>
            <a:pPr algn="ctr"/>
            <a:endParaRPr lang="en-US" sz="2400" b="1" dirty="0">
              <a:solidFill>
                <a:schemeClr val="accent2"/>
              </a:solidFill>
              <a:latin typeface="Times New Roman" panose="02020603050405020304" pitchFamily="18" charset="0"/>
              <a:cs typeface="Times New Roman" panose="02020603050405020304" pitchFamily="18" charset="0"/>
            </a:endParaRPr>
          </a:p>
          <a:p>
            <a:pPr algn="ctr"/>
            <a:endParaRPr lang="en-US" b="1" dirty="0">
              <a:solidFill>
                <a:schemeClr val="accent2"/>
              </a:solidFill>
              <a:latin typeface="Times New Roman" panose="02020603050405020304" pitchFamily="18" charset="0"/>
              <a:cs typeface="Times New Roman" panose="02020603050405020304" pitchFamily="18" charset="0"/>
            </a:endParaRPr>
          </a:p>
        </p:txBody>
      </p:sp>
      <p:sp>
        <p:nvSpPr>
          <p:cNvPr id="10" name="Rectangle 10"/>
          <p:cNvSpPr/>
          <p:nvPr/>
        </p:nvSpPr>
        <p:spPr>
          <a:xfrm>
            <a:off x="3816858" y="2340125"/>
            <a:ext cx="6751023" cy="523220"/>
          </a:xfrm>
          <a:prstGeom prst="rect">
            <a:avLst/>
          </a:prstGeom>
        </p:spPr>
        <p:txBody>
          <a:bodyPr wrap="square">
            <a:spAutoFit/>
          </a:bodyPr>
          <a:lstStyle/>
          <a:p>
            <a:pPr algn="ctr"/>
            <a:endParaRPr lang="en-IN" sz="2800" dirty="0">
              <a:latin typeface="Times New Roman" panose="02020603050405020304" pitchFamily="18" charset="0"/>
              <a:cs typeface="Times New Roman" panose="02020603050405020304" pitchFamily="18" charset="0"/>
            </a:endParaRPr>
          </a:p>
        </p:txBody>
      </p:sp>
      <p:sp>
        <p:nvSpPr>
          <p:cNvPr id="11" name="TextBox 12"/>
          <p:cNvSpPr txBox="1"/>
          <p:nvPr/>
        </p:nvSpPr>
        <p:spPr>
          <a:xfrm>
            <a:off x="2828925" y="4304665"/>
            <a:ext cx="4256405" cy="1771650"/>
          </a:xfrm>
          <a:prstGeom prst="rect">
            <a:avLst/>
          </a:prstGeom>
          <a:noFill/>
        </p:spPr>
        <p:txBody>
          <a:bodyPr wrap="square" rtlCol="0">
            <a:noAutofit/>
          </a:bodyPr>
          <a:lstStyle/>
          <a:p>
            <a:r>
              <a:rPr lang="en-GB" sz="2400" b="1" dirty="0">
                <a:latin typeface="Times New Roman" panose="02020603050405020304" pitchFamily="18" charset="0"/>
                <a:cs typeface="Times New Roman" panose="02020603050405020304" pitchFamily="18" charset="0"/>
              </a:rPr>
              <a:t>Guided by :</a:t>
            </a:r>
            <a:endParaRPr lang="en-GB" sz="2400" b="1" dirty="0">
              <a:latin typeface="Times New Roman" panose="02020603050405020304" pitchFamily="18" charset="0"/>
              <a:cs typeface="Times New Roman" panose="02020603050405020304" pitchFamily="18" charset="0"/>
            </a:endParaRPr>
          </a:p>
          <a:p>
            <a:r>
              <a:rPr lang="en-US" altLang="en-US" sz="2400" dirty="0">
                <a:latin typeface="Times New Roman" panose="02020603050405020304" pitchFamily="18" charset="0"/>
                <a:cs typeface="Times New Roman" panose="02020603050405020304" pitchFamily="18" charset="0"/>
              </a:rPr>
              <a:t>Dr. A B Arockia</a:t>
            </a:r>
            <a:r>
              <a:rPr lang="en-IN" altLang="en-US" sz="2400" dirty="0">
                <a:latin typeface="Times New Roman" panose="02020603050405020304" pitchFamily="18" charset="0"/>
                <a:cs typeface="Times New Roman" panose="02020603050405020304" pitchFamily="18" charset="0"/>
              </a:rPr>
              <a:t> </a:t>
            </a:r>
            <a:r>
              <a:rPr lang="en-US" altLang="en-US" sz="2400" dirty="0">
                <a:latin typeface="Times New Roman" panose="02020603050405020304" pitchFamily="18" charset="0"/>
                <a:cs typeface="Times New Roman" panose="02020603050405020304" pitchFamily="18" charset="0"/>
              </a:rPr>
              <a:t>Christopher</a:t>
            </a:r>
            <a:endParaRPr lang="en-US" altLang="en-US" sz="2400" dirty="0">
              <a:latin typeface="Times New Roman" panose="02020603050405020304" pitchFamily="18" charset="0"/>
              <a:cs typeface="Times New Roman" panose="02020603050405020304" pitchFamily="18" charset="0"/>
            </a:endParaRPr>
          </a:p>
          <a:p>
            <a:r>
              <a:rPr lang="en-US" altLang="en-US" sz="2400" dirty="0">
                <a:latin typeface="Times New Roman" panose="02020603050405020304" pitchFamily="18" charset="0"/>
                <a:cs typeface="Times New Roman" panose="02020603050405020304" pitchFamily="18" charset="0"/>
              </a:rPr>
              <a:t>Professor and Head</a:t>
            </a:r>
            <a:endParaRPr lang="en-US" altLang="en-US" sz="2400" dirty="0">
              <a:latin typeface="Times New Roman" panose="02020603050405020304" pitchFamily="18" charset="0"/>
              <a:cs typeface="Times New Roman" panose="02020603050405020304" pitchFamily="18" charset="0"/>
            </a:endParaRPr>
          </a:p>
          <a:p>
            <a:r>
              <a:rPr lang="en-GB" sz="2400" dirty="0">
                <a:latin typeface="Times New Roman" panose="02020603050405020304" pitchFamily="18" charset="0"/>
                <a:cs typeface="Times New Roman" panose="02020603050405020304" pitchFamily="18" charset="0"/>
              </a:rPr>
              <a:t>MCA</a:t>
            </a:r>
            <a:endParaRPr lang="en-GB" sz="2400" dirty="0">
              <a:latin typeface="Times New Roman" panose="02020603050405020304" pitchFamily="18" charset="0"/>
              <a:cs typeface="Times New Roman" panose="02020603050405020304" pitchFamily="18" charset="0"/>
            </a:endParaRPr>
          </a:p>
          <a:p>
            <a:endParaRPr lang="en-GB"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
        <p:nvSpPr>
          <p:cNvPr id="13" name="TextBox 15"/>
          <p:cNvSpPr txBox="1"/>
          <p:nvPr/>
        </p:nvSpPr>
        <p:spPr>
          <a:xfrm>
            <a:off x="8049260" y="4452620"/>
            <a:ext cx="2982595" cy="1153160"/>
          </a:xfrm>
          <a:prstGeom prst="rect">
            <a:avLst/>
          </a:prstGeom>
          <a:noFill/>
        </p:spPr>
        <p:txBody>
          <a:bodyPr wrap="square" rtlCol="0">
            <a:spAutoFit/>
          </a:bodyPr>
          <a:lstStyle/>
          <a:p>
            <a:r>
              <a:rPr lang="en-US" sz="2300" b="1" dirty="0">
                <a:latin typeface="Times New Roman" panose="02020603050405020304" pitchFamily="18" charset="0"/>
                <a:cs typeface="Times New Roman" panose="02020603050405020304" pitchFamily="18" charset="0"/>
              </a:rPr>
              <a:t>Presented by</a:t>
            </a:r>
            <a:endParaRPr lang="en-US" sz="2300" b="1" dirty="0">
              <a:latin typeface="Times New Roman" panose="02020603050405020304" pitchFamily="18" charset="0"/>
              <a:cs typeface="Times New Roman" panose="02020603050405020304" pitchFamily="18" charset="0"/>
            </a:endParaRPr>
          </a:p>
          <a:p>
            <a:r>
              <a:rPr lang="en-IN" altLang="en-US" sz="2300" dirty="0">
                <a:latin typeface="Times New Roman" panose="02020603050405020304" pitchFamily="18" charset="0"/>
                <a:cs typeface="Times New Roman" panose="02020603050405020304" pitchFamily="18" charset="0"/>
              </a:rPr>
              <a:t>RAMESHKUMAR T S</a:t>
            </a:r>
            <a:endParaRPr lang="en-US" sz="2300" dirty="0">
              <a:latin typeface="Times New Roman" panose="02020603050405020304" pitchFamily="18" charset="0"/>
              <a:cs typeface="Times New Roman" panose="02020603050405020304" pitchFamily="18" charset="0"/>
            </a:endParaRPr>
          </a:p>
          <a:p>
            <a:r>
              <a:rPr lang="en-US" sz="2300" dirty="0">
                <a:latin typeface="Times New Roman" panose="02020603050405020304" pitchFamily="18" charset="0"/>
                <a:cs typeface="Times New Roman" panose="02020603050405020304" pitchFamily="18" charset="0"/>
              </a:rPr>
              <a:t>(232050</a:t>
            </a:r>
            <a:r>
              <a:rPr lang="en-IN" altLang="en-US" sz="2300" dirty="0">
                <a:latin typeface="Times New Roman" panose="02020603050405020304" pitchFamily="18" charset="0"/>
                <a:cs typeface="Times New Roman" panose="02020603050405020304" pitchFamily="18" charset="0"/>
              </a:rPr>
              <a:t>40</a:t>
            </a:r>
            <a:r>
              <a:rPr lang="en-US" sz="2300" dirty="0">
                <a:latin typeface="Times New Roman" panose="02020603050405020304" pitchFamily="18" charset="0"/>
                <a:cs typeface="Times New Roman" panose="02020603050405020304" pitchFamily="18" charset="0"/>
              </a:rPr>
              <a:t>)</a:t>
            </a:r>
            <a:endParaRPr lang="en-US" sz="2300" dirty="0">
              <a:latin typeface="Times New Roman" panose="02020603050405020304" pitchFamily="18" charset="0"/>
              <a:cs typeface="Times New Roman" panose="02020603050405020304" pitchFamily="18" charset="0"/>
            </a:endParaRPr>
          </a:p>
        </p:txBody>
      </p:sp>
      <p:sp>
        <p:nvSpPr>
          <p:cNvPr id="14" name="TextBox 13"/>
          <p:cNvSpPr txBox="1"/>
          <p:nvPr/>
        </p:nvSpPr>
        <p:spPr>
          <a:xfrm>
            <a:off x="3254375" y="1955165"/>
            <a:ext cx="7777480" cy="908685"/>
          </a:xfrm>
          <a:prstGeom prst="rect">
            <a:avLst/>
          </a:prstGeom>
          <a:noFill/>
        </p:spPr>
        <p:txBody>
          <a:bodyPr wrap="square" rtlCol="0">
            <a:noAutofit/>
          </a:bodyPr>
          <a:lstStyle/>
          <a:p>
            <a:pPr algn="ctr"/>
            <a:r>
              <a:rPr lang="en-GB" sz="2400" b="1" dirty="0">
                <a:latin typeface="Times New Roman" panose="02020603050405020304" pitchFamily="18" charset="0"/>
                <a:cs typeface="Times New Roman" panose="02020603050405020304" pitchFamily="18" charset="0"/>
              </a:rPr>
              <a:t>TOPIC :</a:t>
            </a:r>
            <a:r>
              <a:rPr lang="en-IN" altLang="en-GB" sz="2400" dirty="0">
                <a:latin typeface="Times New Roman" panose="02020603050405020304" pitchFamily="18" charset="0"/>
                <a:cs typeface="Times New Roman" panose="02020603050405020304" pitchFamily="18" charset="0"/>
              </a:rPr>
              <a:t>License Plate Recognition Using Yolo </a:t>
            </a:r>
            <a:endParaRPr lang="en-IN" altLang="en-GB" sz="2400" dirty="0">
              <a:latin typeface="Times New Roman" panose="02020603050405020304" pitchFamily="18" charset="0"/>
              <a:cs typeface="Times New Roman" panose="02020603050405020304" pitchFamily="18" charset="0"/>
            </a:endParaRPr>
          </a:p>
          <a:p>
            <a:pPr algn="ctr"/>
            <a:r>
              <a:rPr lang="en-IN" altLang="en-GB" sz="2400" dirty="0">
                <a:latin typeface="Times New Roman" panose="02020603050405020304" pitchFamily="18" charset="0"/>
                <a:cs typeface="Times New Roman" panose="02020603050405020304" pitchFamily="18" charset="0"/>
              </a:rPr>
              <a:t>    In Phyboard Pollux Imx8mp</a:t>
            </a:r>
            <a:endParaRPr lang="en-IN" sz="2400" dirty="0">
              <a:latin typeface="Times New Roman" panose="02020603050405020304" pitchFamily="18" charset="0"/>
              <a:cs typeface="Times New Roman" panose="02020603050405020304" pitchFamily="18" charset="0"/>
            </a:endParaRPr>
          </a:p>
          <a:p>
            <a:pPr algn="ctr"/>
            <a:endParaRPr lang="en-IN" sz="2400" b="1" dirty="0">
              <a:latin typeface="Times New Roman" panose="02020603050405020304" pitchFamily="18" charset="0"/>
              <a:cs typeface="Times New Roman" panose="02020603050405020304" pitchFamily="18" charset="0"/>
            </a:endParaRPr>
          </a:p>
        </p:txBody>
      </p:sp>
      <p:sp>
        <p:nvSpPr>
          <p:cNvPr id="16" name="TextBox 15"/>
          <p:cNvSpPr txBox="1"/>
          <p:nvPr/>
        </p:nvSpPr>
        <p:spPr>
          <a:xfrm>
            <a:off x="4654279" y="3006228"/>
            <a:ext cx="5993500" cy="369332"/>
          </a:xfrm>
          <a:prstGeom prst="rect">
            <a:avLst/>
          </a:prstGeom>
          <a:noFill/>
        </p:spPr>
        <p:txBody>
          <a:bodyPr wrap="square" rtlCol="0">
            <a:spAutoFit/>
          </a:bodyPr>
          <a:lstStyle/>
          <a:p>
            <a:r>
              <a:rPr lang="en-US" b="1" spc="-50" dirty="0">
                <a:solidFill>
                  <a:srgbClr val="C00000"/>
                </a:solidFill>
                <a:latin typeface="Times New Roman" panose="02020603050405020304" pitchFamily="18" charset="0"/>
                <a:cs typeface="Times New Roman" panose="02020603050405020304" pitchFamily="18" charset="0"/>
              </a:rPr>
              <a:t>MASTER OF COMPUTER APPLICATION</a:t>
            </a:r>
            <a:endParaRPr lang="en-US" b="1" spc="-50" dirty="0">
              <a:solidFill>
                <a:srgbClr val="C00000"/>
              </a:solidFill>
              <a:latin typeface="Times New Roman" panose="02020603050405020304" pitchFamily="18" charset="0"/>
              <a:cs typeface="Times New Roman" panose="02020603050405020304" pitchFamily="18" charset="0"/>
            </a:endParaRPr>
          </a:p>
        </p:txBody>
      </p:sp>
      <p:sp>
        <p:nvSpPr>
          <p:cNvPr id="17" name="TextBox 16"/>
          <p:cNvSpPr txBox="1"/>
          <p:nvPr/>
        </p:nvSpPr>
        <p:spPr>
          <a:xfrm>
            <a:off x="5682500" y="3613973"/>
            <a:ext cx="3883844" cy="369332"/>
          </a:xfrm>
          <a:prstGeom prst="rect">
            <a:avLst/>
          </a:prstGeom>
          <a:noFill/>
        </p:spPr>
        <p:txBody>
          <a:bodyPr wrap="square" rtlCol="0">
            <a:spAutoFit/>
          </a:bodyPr>
          <a:lstStyle/>
          <a:p>
            <a:r>
              <a:rPr lang="en-US" dirty="0"/>
              <a:t>Domain : Embedded IOT</a:t>
            </a:r>
            <a:endParaRPr lang="en-IN" dirty="0"/>
          </a:p>
        </p:txBody>
      </p:sp>
      <p:pic>
        <p:nvPicPr>
          <p:cNvPr id="20" name="Picture 19"/>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955020" y="235944"/>
            <a:ext cx="8975324" cy="124929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p:cNvSpPr/>
          <p:nvPr/>
        </p:nvSpPr>
        <p:spPr>
          <a:xfrm>
            <a:off x="479611" y="232193"/>
            <a:ext cx="2788024" cy="646331"/>
          </a:xfrm>
          <a:prstGeom prst="rect">
            <a:avLst/>
          </a:prstGeom>
        </p:spPr>
        <p:txBody>
          <a:bodyPr wrap="square">
            <a:spAutoFit/>
          </a:bodyPr>
          <a:lstStyle/>
          <a:p>
            <a:pPr algn="ctr"/>
            <a:r>
              <a:rPr lang="en-US" sz="3600" dirty="0">
                <a:solidFill>
                  <a:schemeClr val="bg1"/>
                </a:solidFill>
                <a:latin typeface="Times New Roman" panose="02020603050405020304" pitchFamily="18" charset="0"/>
                <a:cs typeface="Times New Roman" panose="02020603050405020304" pitchFamily="18" charset="0"/>
              </a:rPr>
              <a:t>OUTLINE</a:t>
            </a:r>
            <a:endParaRPr lang="en-US" sz="3600" dirty="0">
              <a:solidFill>
                <a:schemeClr val="bg1"/>
              </a:solidFill>
              <a:latin typeface="Times New Roman" panose="02020603050405020304" pitchFamily="18" charset="0"/>
              <a:cs typeface="Times New Roman" panose="02020603050405020304" pitchFamily="18" charset="0"/>
            </a:endParaRPr>
          </a:p>
        </p:txBody>
      </p:sp>
      <p:sp>
        <p:nvSpPr>
          <p:cNvPr id="23" name="Rectangle 22"/>
          <p:cNvSpPr/>
          <p:nvPr/>
        </p:nvSpPr>
        <p:spPr>
          <a:xfrm>
            <a:off x="1320800" y="1473200"/>
            <a:ext cx="6895465" cy="3284220"/>
          </a:xfrm>
          <a:prstGeom prst="rect">
            <a:avLst/>
          </a:prstGeom>
        </p:spPr>
        <p:txBody>
          <a:bodyPr wrap="square">
            <a:noAutofit/>
          </a:bodyPr>
          <a:lstStyle/>
          <a:p>
            <a:pPr marL="800100" lvl="1" indent="-342900" algn="just">
              <a:buClr>
                <a:srgbClr val="FF0000"/>
              </a:buCl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DOMAIN</a:t>
            </a:r>
            <a:endParaRPr lang="en-US" sz="2000" dirty="0">
              <a:latin typeface="Times New Roman" panose="02020603050405020304" pitchFamily="18" charset="0"/>
              <a:cs typeface="Times New Roman" panose="02020603050405020304" pitchFamily="18" charset="0"/>
            </a:endParaRPr>
          </a:p>
          <a:p>
            <a:pPr marL="800100" lvl="1" indent="-342900" algn="just">
              <a:buClr>
                <a:srgbClr val="FF0000"/>
              </a:buCl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INTRODUCTION</a:t>
            </a:r>
            <a:endParaRPr lang="en-US" sz="2000" dirty="0">
              <a:latin typeface="Times New Roman" panose="02020603050405020304" pitchFamily="18" charset="0"/>
              <a:cs typeface="Times New Roman" panose="02020603050405020304" pitchFamily="18" charset="0"/>
            </a:endParaRPr>
          </a:p>
          <a:p>
            <a:pPr marL="800100" lvl="1" indent="-342900" algn="just">
              <a:buClr>
                <a:srgbClr val="FF0000"/>
              </a:buCl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SOFTWARE’S</a:t>
            </a:r>
            <a:endParaRPr lang="en-US" sz="2000" dirty="0">
              <a:latin typeface="Times New Roman" panose="02020603050405020304" pitchFamily="18" charset="0"/>
              <a:cs typeface="Times New Roman" panose="02020603050405020304" pitchFamily="18" charset="0"/>
            </a:endParaRPr>
          </a:p>
          <a:p>
            <a:pPr marL="800100" lvl="1" indent="-342900" algn="just">
              <a:buClr>
                <a:srgbClr val="FF0000"/>
              </a:buCl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HARDWARE’S</a:t>
            </a:r>
            <a:endParaRPr lang="en-US" sz="2000" dirty="0">
              <a:latin typeface="Times New Roman" panose="02020603050405020304" pitchFamily="18" charset="0"/>
              <a:cs typeface="Times New Roman" panose="02020603050405020304" pitchFamily="18" charset="0"/>
            </a:endParaRPr>
          </a:p>
          <a:p>
            <a:pPr marL="800100" lvl="1" indent="-342900" algn="just">
              <a:spcAft>
                <a:spcPts val="0"/>
              </a:spcAft>
              <a:buClr>
                <a:srgbClr val="FF0000"/>
              </a:buClr>
              <a:buFont typeface="Wingdings" panose="05000000000000000000" pitchFamily="2" charset="2"/>
              <a:buChar char="v"/>
              <a:tabLst>
                <a:tab pos="914400" algn="l"/>
              </a:tabLst>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LITERATURE REVIEW</a:t>
            </a:r>
            <a:endParaRPr lang="en-IN" sz="2000" dirty="0">
              <a:latin typeface="Times New Roman" panose="02020603050405020304" pitchFamily="18" charset="0"/>
              <a:ea typeface="Times New Roman" panose="02020603050405020304" pitchFamily="18" charset="0"/>
              <a:cs typeface="Times New Roman" panose="02020603050405020304" pitchFamily="18" charset="0"/>
            </a:endParaRPr>
          </a:p>
          <a:p>
            <a:pPr marL="800100" lvl="1" indent="-342900" algn="just">
              <a:spcAft>
                <a:spcPts val="0"/>
              </a:spcAft>
              <a:buClr>
                <a:srgbClr val="FF0000"/>
              </a:buClr>
              <a:buFont typeface="Wingdings" panose="05000000000000000000" pitchFamily="2" charset="2"/>
              <a:buChar char="v"/>
              <a:tabLst>
                <a:tab pos="914400" algn="l"/>
              </a:tabLst>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REFERENCE</a:t>
            </a: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marL="800100" lvl="1" indent="-342900" algn="just">
              <a:buClr>
                <a:srgbClr val="FF0000"/>
              </a:buClr>
              <a:buFont typeface="Wingdings" panose="05000000000000000000" pitchFamily="2" charset="2"/>
              <a:buChar char="v"/>
            </a:pPr>
            <a:endParaRPr lang="en-US" sz="2000" dirty="0">
              <a:latin typeface="Times New Roman" panose="02020603050405020304" pitchFamily="18" charset="0"/>
              <a:cs typeface="Times New Roman" panose="02020603050405020304" pitchFamily="18" charset="0"/>
            </a:endParaRPr>
          </a:p>
          <a:p>
            <a:pPr marL="800100" lvl="1" indent="-342900" algn="just">
              <a:buClr>
                <a:srgbClr val="FF0000"/>
              </a:buClr>
              <a:buFont typeface="Wingdings" panose="05000000000000000000" pitchFamily="2" charset="2"/>
              <a:buChar char="v"/>
            </a:pPr>
            <a:endParaRPr lang="en-US" sz="2000" dirty="0">
              <a:latin typeface="Times New Roman" panose="02020603050405020304" pitchFamily="18" charset="0"/>
              <a:cs typeface="Times New Roman" panose="02020603050405020304" pitchFamily="18" charset="0"/>
            </a:endParaRPr>
          </a:p>
        </p:txBody>
      </p:sp>
      <p:sp>
        <p:nvSpPr>
          <p:cNvPr id="2" name="Rectangle 1"/>
          <p:cNvSpPr/>
          <p:nvPr/>
        </p:nvSpPr>
        <p:spPr>
          <a:xfrm>
            <a:off x="0" y="0"/>
            <a:ext cx="4643120" cy="941294"/>
          </a:xfrm>
          <a:prstGeom prst="rect">
            <a:avLst/>
          </a:prstGeom>
          <a:solidFill>
            <a:schemeClr val="accent1">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Times New Roman" panose="02020603050405020304" pitchFamily="18" charset="0"/>
                <a:cs typeface="Times New Roman" panose="02020603050405020304" pitchFamily="18" charset="0"/>
              </a:rPr>
              <a:t>OUTLINE</a:t>
            </a:r>
            <a:endParaRPr lang="en-US"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2" name="Rectangle 1"/>
          <p:cNvSpPr/>
          <p:nvPr/>
        </p:nvSpPr>
        <p:spPr>
          <a:xfrm>
            <a:off x="0" y="0"/>
            <a:ext cx="5100320" cy="941294"/>
          </a:xfrm>
          <a:prstGeom prst="rect">
            <a:avLst/>
          </a:prstGeom>
          <a:solidFill>
            <a:schemeClr val="accent1">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Times New Roman" panose="02020603050405020304" pitchFamily="18" charset="0"/>
                <a:cs typeface="Times New Roman" panose="02020603050405020304" pitchFamily="18" charset="0"/>
              </a:rPr>
              <a:t>DOMAIN</a:t>
            </a:r>
            <a:endParaRPr lang="en-US" sz="2800" dirty="0">
              <a:latin typeface="Times New Roman" panose="02020603050405020304" pitchFamily="18" charset="0"/>
              <a:cs typeface="Times New Roman" panose="02020603050405020304" pitchFamily="18" charset="0"/>
            </a:endParaRPr>
          </a:p>
        </p:txBody>
      </p:sp>
      <p:sp>
        <p:nvSpPr>
          <p:cNvPr id="4" name="TextBox 3"/>
          <p:cNvSpPr txBox="1"/>
          <p:nvPr/>
        </p:nvSpPr>
        <p:spPr>
          <a:xfrm>
            <a:off x="650240" y="1905635"/>
            <a:ext cx="8867775" cy="2676525"/>
          </a:xfrm>
          <a:prstGeom prst="rect">
            <a:avLst/>
          </a:prstGeom>
          <a:noFill/>
        </p:spPr>
        <p:txBody>
          <a:bodyPr wrap="square">
            <a:spAutoFit/>
          </a:bodyPr>
          <a:lstStyle/>
          <a:p>
            <a:pPr marL="342900" indent="-342900">
              <a:lnSpc>
                <a:spcPct val="150000"/>
              </a:lnSpc>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Domain</a:t>
            </a:r>
            <a:r>
              <a:rPr lang="en-US" sz="2000" dirty="0">
                <a:latin typeface="Times New Roman" panose="02020603050405020304" pitchFamily="18" charset="0"/>
                <a:cs typeface="Times New Roman" panose="02020603050405020304" pitchFamily="18" charset="0"/>
              </a:rPr>
              <a:t> : </a:t>
            </a:r>
            <a:r>
              <a:rPr lang="en-IN" altLang="en-US" sz="2000" dirty="0">
                <a:latin typeface="Times New Roman" panose="02020603050405020304" pitchFamily="18" charset="0"/>
                <a:cs typeface="Times New Roman" panose="02020603050405020304" pitchFamily="18" charset="0"/>
              </a:rPr>
              <a:t>License Plate Recognition Using Yolo In Phyboard Pollux Imx8mp</a:t>
            </a:r>
            <a:endParaRPr lang="en-US" sz="2000" dirty="0">
              <a:latin typeface="Times New Roman" panose="02020603050405020304" pitchFamily="18" charset="0"/>
              <a:cs typeface="Times New Roman" panose="02020603050405020304" pitchFamily="18" charset="0"/>
            </a:endParaRPr>
          </a:p>
          <a:p>
            <a:pPr marL="342900" indent="-342900">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Embedded System</a:t>
            </a:r>
            <a:endParaRPr lang="en-US" sz="2000" dirty="0">
              <a:latin typeface="Times New Roman" panose="02020603050405020304" pitchFamily="18" charset="0"/>
              <a:cs typeface="Times New Roman" panose="02020603050405020304" pitchFamily="18" charset="0"/>
            </a:endParaRPr>
          </a:p>
          <a:p>
            <a:pPr marL="342900" indent="-342900">
              <a:lnSpc>
                <a:spcPct val="150000"/>
              </a:lnSpc>
              <a:buFont typeface="Wingdings" panose="05000000000000000000" pitchFamily="2" charset="2"/>
              <a:buChar char="Ø"/>
            </a:pPr>
            <a:r>
              <a:rPr lang="en-IN" altLang="en-US" sz="2000" dirty="0">
                <a:latin typeface="Times New Roman" panose="02020603050405020304" pitchFamily="18" charset="0"/>
                <a:cs typeface="Times New Roman" panose="02020603050405020304" pitchFamily="18" charset="0"/>
              </a:rPr>
              <a:t>Artificial Intelligence</a:t>
            </a:r>
            <a:endParaRPr lang="en-US" sz="2000" dirty="0">
              <a:latin typeface="Times New Roman" panose="02020603050405020304" pitchFamily="18" charset="0"/>
              <a:cs typeface="Times New Roman" panose="02020603050405020304" pitchFamily="18" charset="0"/>
            </a:endParaRPr>
          </a:p>
          <a:p>
            <a:pPr marL="342900" indent="-342900">
              <a:lnSpc>
                <a:spcPct val="150000"/>
              </a:lnSpc>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marL="342900" indent="-342900">
              <a:lnSpc>
                <a:spcPct val="200000"/>
              </a:lnSpc>
              <a:buFont typeface="Wingdings" panose="05000000000000000000" pitchFamily="2" charset="2"/>
              <a:buChar char="Ø"/>
            </a:pP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4907280" cy="806824"/>
          </a:xfrm>
          <a:prstGeom prst="rect">
            <a:avLst/>
          </a:prstGeom>
          <a:solidFill>
            <a:schemeClr val="accent1">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Times New Roman" panose="02020603050405020304" pitchFamily="18" charset="0"/>
                <a:cs typeface="Times New Roman" panose="02020603050405020304" pitchFamily="18" charset="0"/>
              </a:rPr>
              <a:t>INTRODUCTION</a:t>
            </a:r>
            <a:endParaRPr lang="en-US" sz="2800" dirty="0">
              <a:latin typeface="Times New Roman" panose="02020603050405020304" pitchFamily="18" charset="0"/>
              <a:cs typeface="Times New Roman" panose="02020603050405020304" pitchFamily="18" charset="0"/>
            </a:endParaRPr>
          </a:p>
        </p:txBody>
      </p:sp>
      <p:sp>
        <p:nvSpPr>
          <p:cNvPr id="4" name="TextBox 3"/>
          <p:cNvSpPr txBox="1"/>
          <p:nvPr/>
        </p:nvSpPr>
        <p:spPr>
          <a:xfrm>
            <a:off x="670560" y="1076960"/>
            <a:ext cx="10807290" cy="5631180"/>
          </a:xfrm>
          <a:prstGeom prst="rect">
            <a:avLst/>
          </a:prstGeom>
          <a:noFill/>
        </p:spPr>
        <p:txBody>
          <a:bodyPr wrap="square" rtlCol="0">
            <a:spAutoFit/>
          </a:bodyPr>
          <a:lstStyle/>
          <a:p>
            <a:pPr algn="just">
              <a:lnSpc>
                <a:spcPct val="200000"/>
              </a:lnSpc>
            </a:pPr>
            <a:r>
              <a:rPr lang="en-US" altLang="en-US" dirty="0">
                <a:latin typeface="Times New Roman" panose="02020603050405020304" pitchFamily="18" charset="0"/>
                <a:cs typeface="Times New Roman" panose="02020603050405020304" pitchFamily="18" charset="0"/>
              </a:rPr>
              <a:t>Detecting license plate numbers using computer vision, especially with the integration of YOLO (You Only Look Once) and Optical Character Recognition (OCR), offers a range of practical applications and benefits. Here's an introduction to why this process is valuable</a:t>
            </a:r>
            <a:r>
              <a:rPr lang="en-IN" altLang="en-US" dirty="0">
                <a:latin typeface="Times New Roman" panose="02020603050405020304" pitchFamily="18" charset="0"/>
                <a:cs typeface="Times New Roman" panose="02020603050405020304" pitchFamily="18" charset="0"/>
              </a:rPr>
              <a:t>.</a:t>
            </a:r>
            <a:r>
              <a:rPr lang="en-US" altLang="en-US" dirty="0">
                <a:latin typeface="Times New Roman" panose="02020603050405020304" pitchFamily="18" charset="0"/>
                <a:cs typeface="Times New Roman" panose="02020603050405020304" pitchFamily="18" charset="0"/>
              </a:rPr>
              <a:t>In the ever-evolving landscape of technology, the integration of computer vision has brought forth innovative solutions, and one particularly compelling application is the detection of license plate numbers. This technology has proven to be immensely useful in various domains, offering a blend of efficiency, accuracy, and automation.One primary utility of license plate detection through computer vision lies in enhancing security and surveillance systems. By leveraging advanced algorithms, such as YOLO, to detect license plates in real-time, it becomes possible to monitor and track vehicles seamlessly. This is particularly advantageous in the context of law enforcement, where quick identification of vehicles is essential for tasks ranging from traffic management to criminal investigations.</a:t>
            </a:r>
            <a:endParaRPr lang="en-US"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
          <p:cNvSpPr/>
          <p:nvPr/>
        </p:nvSpPr>
        <p:spPr>
          <a:xfrm>
            <a:off x="0" y="0"/>
            <a:ext cx="4927600" cy="812800"/>
          </a:xfrm>
          <a:prstGeom prst="rect">
            <a:avLst/>
          </a:prstGeom>
          <a:solidFill>
            <a:schemeClr val="accent1">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Times New Roman" panose="02020603050405020304" pitchFamily="18" charset="0"/>
                <a:cs typeface="Times New Roman" panose="02020603050405020304" pitchFamily="18" charset="0"/>
              </a:rPr>
              <a:t>SOFTWARE’S </a:t>
            </a:r>
            <a:endParaRPr lang="en-US" sz="2800" dirty="0">
              <a:latin typeface="Times New Roman" panose="02020603050405020304" pitchFamily="18" charset="0"/>
              <a:cs typeface="Times New Roman" panose="02020603050405020304" pitchFamily="18" charset="0"/>
            </a:endParaRPr>
          </a:p>
        </p:txBody>
      </p:sp>
      <p:sp>
        <p:nvSpPr>
          <p:cNvPr id="3" name="TextBox 2"/>
          <p:cNvSpPr txBox="1"/>
          <p:nvPr/>
        </p:nvSpPr>
        <p:spPr>
          <a:xfrm>
            <a:off x="975360" y="949960"/>
            <a:ext cx="10523855" cy="5471160"/>
          </a:xfrm>
          <a:prstGeom prst="rect">
            <a:avLst/>
          </a:prstGeom>
          <a:noFill/>
        </p:spPr>
        <p:txBody>
          <a:bodyPr wrap="square" rtlCol="0">
            <a:noAutofit/>
          </a:bodyPr>
          <a:lstStyle/>
          <a:p>
            <a:pPr marL="342900" indent="-342900">
              <a:lnSpc>
                <a:spcPct val="200000"/>
              </a:lnSpc>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Operating System:</a:t>
            </a:r>
            <a:endParaRPr lang="en-IN" sz="2000" b="1" dirty="0">
              <a:latin typeface="Times New Roman" panose="02020603050405020304" pitchFamily="18" charset="0"/>
              <a:cs typeface="Times New Roman" panose="02020603050405020304" pitchFamily="18" charset="0"/>
            </a:endParaRPr>
          </a:p>
          <a:p>
            <a:pPr marL="342900" indent="-342900" algn="just">
              <a:lnSpc>
                <a:spcPct val="20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Python3.10 - Development and Debugging</a:t>
            </a:r>
            <a:endParaRPr lang="en-IN" sz="2000" dirty="0">
              <a:latin typeface="Times New Roman" panose="02020603050405020304" pitchFamily="18" charset="0"/>
              <a:cs typeface="Times New Roman" panose="02020603050405020304" pitchFamily="18" charset="0"/>
            </a:endParaRPr>
          </a:p>
          <a:p>
            <a:pPr marL="342900" indent="-342900" algn="just">
              <a:lnSpc>
                <a:spcPct val="20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OpenCV.</a:t>
            </a:r>
            <a:endParaRPr lang="en-IN" sz="2000" dirty="0">
              <a:latin typeface="Times New Roman" panose="02020603050405020304" pitchFamily="18" charset="0"/>
              <a:cs typeface="Times New Roman" panose="02020603050405020304" pitchFamily="18" charset="0"/>
            </a:endParaRPr>
          </a:p>
          <a:p>
            <a:pPr marL="342900" indent="-342900" algn="just">
              <a:lnSpc>
                <a:spcPct val="20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YOLO (You Only Look Once).</a:t>
            </a:r>
            <a:endParaRPr lang="en-IN" sz="2000" dirty="0">
              <a:latin typeface="Times New Roman" panose="02020603050405020304" pitchFamily="18" charset="0"/>
              <a:cs typeface="Times New Roman" panose="02020603050405020304" pitchFamily="18" charset="0"/>
            </a:endParaRPr>
          </a:p>
          <a:p>
            <a:pPr marL="342900" indent="-342900" algn="just">
              <a:lnSpc>
                <a:spcPct val="200000"/>
              </a:lnSpc>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Tesseract OCR</a:t>
            </a:r>
            <a:endParaRPr lang="en-US" altLang="en-US" sz="2000" dirty="0">
              <a:latin typeface="Times New Roman" panose="02020603050405020304" pitchFamily="18" charset="0"/>
              <a:cs typeface="Times New Roman" panose="02020603050405020304" pitchFamily="18" charset="0"/>
            </a:endParaRPr>
          </a:p>
          <a:p>
            <a:pPr marL="342900" indent="-342900" algn="just">
              <a:lnSpc>
                <a:spcPct val="200000"/>
              </a:lnSpc>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LabelImg</a:t>
            </a:r>
            <a:endParaRPr lang="en-US" altLang="en-US" sz="2000" dirty="0">
              <a:latin typeface="Times New Roman" panose="02020603050405020304" pitchFamily="18" charset="0"/>
              <a:cs typeface="Times New Roman" panose="02020603050405020304" pitchFamily="18" charset="0"/>
            </a:endParaRPr>
          </a:p>
          <a:p>
            <a:pPr marL="342900" indent="-342900" algn="just">
              <a:lnSpc>
                <a:spcPct val="200000"/>
              </a:lnSpc>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TensorFlow / PyTorch (Based on selected YOLO version)</a:t>
            </a:r>
            <a:endParaRPr lang="en-US" altLang="en-US" sz="2000" dirty="0">
              <a:latin typeface="Times New Roman" panose="02020603050405020304" pitchFamily="18" charset="0"/>
              <a:cs typeface="Times New Roman" panose="02020603050405020304" pitchFamily="18" charset="0"/>
            </a:endParaRPr>
          </a:p>
          <a:p>
            <a:pPr marL="342900" indent="-342900" algn="just">
              <a:lnSpc>
                <a:spcPct val="20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Operating System in Linux.</a:t>
            </a:r>
            <a:endParaRPr lang="en-IN" sz="2000" dirty="0">
              <a:latin typeface="Times New Roman" panose="02020603050405020304" pitchFamily="18" charset="0"/>
              <a:cs typeface="Times New Roman" panose="02020603050405020304" pitchFamily="18" charset="0"/>
            </a:endParaRPr>
          </a:p>
          <a:p>
            <a:pPr marL="342900" indent="-342900">
              <a:lnSpc>
                <a:spcPct val="200000"/>
              </a:lnSpc>
              <a:buFont typeface="Arial" panose="020B0604020202020204" pitchFamily="34" charset="0"/>
              <a:buChar char="•"/>
            </a:pPr>
            <a:endParaRPr lang="en-IN" sz="2000" b="0" strike="noStrike" spc="-1" dirty="0">
              <a:solidFill>
                <a:srgbClr val="000000"/>
              </a:solidFill>
              <a:latin typeface="Times New Roman" panose="02020603050405020304" pitchFamily="18" charset="0"/>
              <a:ea typeface="DejaVu Sans"/>
              <a:cs typeface="Times New Roman" panose="02020603050405020304" pitchFamily="18" charset="0"/>
            </a:endParaRPr>
          </a:p>
          <a:p>
            <a:pPr marL="342900" indent="-342900">
              <a:lnSpc>
                <a:spcPct val="200000"/>
              </a:lnSpc>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indent="-342900">
              <a:lnSpc>
                <a:spcPct val="200000"/>
              </a:lnSpc>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a:lnSpc>
                <a:spcPct val="200000"/>
              </a:lnSpc>
            </a:pP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35358" y="1712890"/>
            <a:ext cx="5004391" cy="3434606"/>
          </a:xfrm>
        </p:spPr>
        <p:txBody>
          <a:bodyPr>
            <a:noAutofit/>
          </a:bodyPr>
          <a:lstStyle/>
          <a:p>
            <a:pPr marL="457200" indent="-457200">
              <a:lnSpc>
                <a:spcPct val="200000"/>
              </a:lnSpc>
              <a:buFont typeface="+mj-lt"/>
              <a:buAutoNum type="arabicPeriod"/>
            </a:pPr>
            <a:r>
              <a:rPr lang="en-IN" altLang="en-US" sz="2000" dirty="0">
                <a:latin typeface="Times New Roman" panose="02020603050405020304" pitchFamily="18" charset="0"/>
                <a:cs typeface="Times New Roman" panose="02020603050405020304" pitchFamily="18" charset="0"/>
              </a:rPr>
              <a:t>Phyboard Pollux I.mx8m Plus </a:t>
            </a:r>
            <a:endParaRPr lang="en-US" sz="2000" dirty="0">
              <a:latin typeface="Times New Roman" panose="02020603050405020304" pitchFamily="18" charset="0"/>
              <a:cs typeface="Times New Roman" panose="02020603050405020304" pitchFamily="18" charset="0"/>
            </a:endParaRPr>
          </a:p>
          <a:p>
            <a:pPr marL="457200" indent="-457200">
              <a:lnSpc>
                <a:spcPct val="200000"/>
              </a:lnSpc>
              <a:buFont typeface="+mj-lt"/>
              <a:buAutoNum type="arabicPeriod"/>
            </a:pPr>
            <a:r>
              <a:rPr lang="en-IN" altLang="en-US" sz="2000" dirty="0">
                <a:latin typeface="Times New Roman" panose="02020603050405020304" pitchFamily="18" charset="0"/>
                <a:cs typeface="Times New Roman" panose="02020603050405020304" pitchFamily="18" charset="0"/>
              </a:rPr>
              <a:t>LCD Display/Monitor</a:t>
            </a:r>
            <a:endParaRPr lang="en-US" sz="2000" dirty="0">
              <a:latin typeface="Times New Roman" panose="02020603050405020304" pitchFamily="18" charset="0"/>
              <a:cs typeface="Times New Roman" panose="02020603050405020304" pitchFamily="18" charset="0"/>
            </a:endParaRPr>
          </a:p>
          <a:p>
            <a:pPr marL="457200" indent="-457200">
              <a:lnSpc>
                <a:spcPct val="200000"/>
              </a:lnSpc>
              <a:buFont typeface="+mj-lt"/>
              <a:buAutoNum type="arabicPeriod"/>
            </a:pPr>
            <a:r>
              <a:rPr lang="en-IN" altLang="en-US" sz="2000" dirty="0">
                <a:latin typeface="Times New Roman" panose="02020603050405020304" pitchFamily="18" charset="0"/>
                <a:cs typeface="Times New Roman" panose="02020603050405020304" pitchFamily="18" charset="0"/>
              </a:rPr>
              <a:t>Camera Module/USB Camera</a:t>
            </a:r>
            <a:endParaRPr lang="en-US" sz="2000" dirty="0">
              <a:latin typeface="Times New Roman" panose="02020603050405020304" pitchFamily="18" charset="0"/>
              <a:cs typeface="Times New Roman" panose="02020603050405020304" pitchFamily="18" charset="0"/>
            </a:endParaRPr>
          </a:p>
          <a:p>
            <a:pPr marL="0" indent="0">
              <a:lnSpc>
                <a:spcPct val="200000"/>
              </a:lnSpc>
              <a:buFont typeface="+mj-lt"/>
              <a:buNone/>
            </a:pPr>
            <a:endParaRPr lang="en-IN" sz="2000" b="1" dirty="0">
              <a:latin typeface="Times New Roman" panose="02020603050405020304" pitchFamily="18" charset="0"/>
              <a:cs typeface="Times New Roman" panose="02020603050405020304" pitchFamily="18" charset="0"/>
            </a:endParaRPr>
          </a:p>
        </p:txBody>
      </p:sp>
      <p:sp>
        <p:nvSpPr>
          <p:cNvPr id="7" name="Rectangle 1"/>
          <p:cNvSpPr>
            <a:spLocks noGrp="1"/>
          </p:cNvSpPr>
          <p:nvPr>
            <p:ph type="title"/>
          </p:nvPr>
        </p:nvSpPr>
        <p:spPr>
          <a:xfrm>
            <a:off x="0" y="-23446"/>
            <a:ext cx="5639749" cy="723536"/>
          </a:xfrm>
          <a:prstGeom prst="rect">
            <a:avLst/>
          </a:prstGeom>
          <a:solidFill>
            <a:schemeClr val="accent1">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Times New Roman" panose="02020603050405020304" pitchFamily="18" charset="0"/>
                <a:cs typeface="Times New Roman" panose="02020603050405020304" pitchFamily="18" charset="0"/>
              </a:rPr>
              <a:t>HARDWARE’S </a:t>
            </a:r>
            <a:endParaRPr lang="en-US" sz="2800" dirty="0">
              <a:latin typeface="Times New Roman" panose="02020603050405020304" pitchFamily="18" charset="0"/>
              <a:cs typeface="Times New Roman" panose="02020603050405020304" pitchFamily="18" charset="0"/>
            </a:endParaRPr>
          </a:p>
        </p:txBody>
      </p:sp>
      <p:pic>
        <p:nvPicPr>
          <p:cNvPr id="5" name="Picture 4" descr="C:\Users\rames\OneDrive\Documents\Pictures\Saved Pictures\Screenshots\imx8mp.pngimx8mp"/>
          <p:cNvPicPr>
            <a:picLocks noChangeAspect="1"/>
          </p:cNvPicPr>
          <p:nvPr/>
        </p:nvPicPr>
        <p:blipFill>
          <a:blip r:embed="rId1"/>
          <a:srcRect l="8941" r="8941"/>
          <a:stretch>
            <a:fillRect/>
          </a:stretch>
        </p:blipFill>
        <p:spPr>
          <a:xfrm>
            <a:off x="4944745" y="1304925"/>
            <a:ext cx="5873750" cy="2124075"/>
          </a:xfrm>
          <a:prstGeom prst="rect">
            <a:avLst/>
          </a:prstGeom>
        </p:spPr>
      </p:pic>
      <p:sp>
        <p:nvSpPr>
          <p:cNvPr id="8" name="Rectangle 7"/>
          <p:cNvSpPr/>
          <p:nvPr/>
        </p:nvSpPr>
        <p:spPr>
          <a:xfrm>
            <a:off x="4587240" y="1089025"/>
            <a:ext cx="357505" cy="1107440"/>
          </a:xfrm>
          <a:prstGeom prst="rect">
            <a:avLst/>
          </a:prstGeom>
        </p:spPr>
        <p:txBody>
          <a:bodyPr wrap="none">
            <a:noAutofit/>
          </a:bodyPr>
          <a:lstStyle/>
          <a:p>
            <a:pPr>
              <a:lnSpc>
                <a:spcPct val="200000"/>
              </a:lnSpc>
            </a:pPr>
            <a:r>
              <a:rPr lang="en-US" dirty="0">
                <a:latin typeface="Times New Roman" panose="02020603050405020304" pitchFamily="18" charset="0"/>
                <a:cs typeface="Times New Roman" panose="02020603050405020304" pitchFamily="18" charset="0"/>
              </a:rPr>
              <a:t>1.</a:t>
            </a:r>
            <a:endParaRPr lang="en-IN" dirty="0">
              <a:latin typeface="Times New Roman" panose="02020603050405020304" pitchFamily="18" charset="0"/>
              <a:cs typeface="Times New Roman" panose="02020603050405020304" pitchFamily="18" charset="0"/>
            </a:endParaRPr>
          </a:p>
        </p:txBody>
      </p:sp>
      <p:sp>
        <p:nvSpPr>
          <p:cNvPr id="12" name="Rectangle 11"/>
          <p:cNvSpPr/>
          <p:nvPr/>
        </p:nvSpPr>
        <p:spPr>
          <a:xfrm>
            <a:off x="4705350" y="3429000"/>
            <a:ext cx="485775" cy="898525"/>
          </a:xfrm>
          <a:prstGeom prst="rect">
            <a:avLst/>
          </a:prstGeom>
        </p:spPr>
        <p:txBody>
          <a:bodyPr wrap="square">
            <a:noAutofit/>
          </a:bodyPr>
          <a:lstStyle/>
          <a:p>
            <a:pPr>
              <a:lnSpc>
                <a:spcPct val="200000"/>
              </a:lnSpc>
            </a:pPr>
            <a:r>
              <a:rPr lang="en-IN" dirty="0">
                <a:latin typeface="Times New Roman" panose="02020603050405020304" pitchFamily="18" charset="0"/>
                <a:cs typeface="Times New Roman" panose="02020603050405020304" pitchFamily="18" charset="0"/>
              </a:rPr>
              <a:t>2.</a:t>
            </a:r>
            <a:endParaRPr lang="en-IN" dirty="0">
              <a:latin typeface="Times New Roman" panose="02020603050405020304" pitchFamily="18" charset="0"/>
              <a:cs typeface="Times New Roman" panose="02020603050405020304" pitchFamily="18" charset="0"/>
            </a:endParaRPr>
          </a:p>
        </p:txBody>
      </p:sp>
      <p:sp>
        <p:nvSpPr>
          <p:cNvPr id="13" name="Rectangle 12"/>
          <p:cNvSpPr/>
          <p:nvPr/>
        </p:nvSpPr>
        <p:spPr>
          <a:xfrm>
            <a:off x="8293735" y="3429635"/>
            <a:ext cx="354330" cy="1148080"/>
          </a:xfrm>
          <a:prstGeom prst="rect">
            <a:avLst/>
          </a:prstGeom>
        </p:spPr>
        <p:txBody>
          <a:bodyPr wrap="none">
            <a:noAutofit/>
          </a:bodyPr>
          <a:lstStyle/>
          <a:p>
            <a:pPr>
              <a:lnSpc>
                <a:spcPct val="200000"/>
              </a:lnSpc>
            </a:pPr>
            <a:r>
              <a:rPr lang="en-IN" dirty="0">
                <a:latin typeface="Times New Roman" panose="02020603050405020304" pitchFamily="18" charset="0"/>
                <a:cs typeface="Times New Roman" panose="02020603050405020304" pitchFamily="18" charset="0"/>
              </a:rPr>
              <a:t>3.</a:t>
            </a:r>
            <a:endParaRPr lang="en-IN" dirty="0">
              <a:latin typeface="Times New Roman" panose="02020603050405020304" pitchFamily="18" charset="0"/>
              <a:cs typeface="Times New Roman" panose="02020603050405020304" pitchFamily="18" charset="0"/>
            </a:endParaRPr>
          </a:p>
        </p:txBody>
      </p:sp>
      <p:pic>
        <p:nvPicPr>
          <p:cNvPr id="2052" name="Picture 4" descr="C:/Users/rames/OneDrive/Documents/Pictures/black_screen.jpgblack_screen"/>
          <p:cNvPicPr>
            <a:picLocks noChangeAspect="1" noChangeArrowheads="1"/>
          </p:cNvPicPr>
          <p:nvPr/>
        </p:nvPicPr>
        <p:blipFill>
          <a:blip r:embed="rId2"/>
          <a:srcRect t="10569" b="10569"/>
          <a:stretch>
            <a:fillRect/>
          </a:stretch>
        </p:blipFill>
        <p:spPr bwMode="auto">
          <a:xfrm>
            <a:off x="5137331" y="3657664"/>
            <a:ext cx="2153904" cy="1699112"/>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descr="CAMERA"/>
          <p:cNvPicPr>
            <a:picLocks noChangeAspect="1"/>
          </p:cNvPicPr>
          <p:nvPr/>
        </p:nvPicPr>
        <p:blipFill>
          <a:blip r:embed="rId3"/>
          <a:stretch>
            <a:fillRect/>
          </a:stretch>
        </p:blipFill>
        <p:spPr>
          <a:xfrm>
            <a:off x="8955405" y="3578860"/>
            <a:ext cx="2607945" cy="211328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5008880" cy="760341"/>
          </a:xfrm>
          <a:prstGeom prst="rect">
            <a:avLst/>
          </a:prstGeom>
          <a:solidFill>
            <a:schemeClr val="accent1">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Times New Roman" panose="02020603050405020304" pitchFamily="18" charset="0"/>
                <a:cs typeface="Times New Roman" panose="02020603050405020304" pitchFamily="18" charset="0"/>
              </a:rPr>
              <a:t>LITERATURE REVIEW </a:t>
            </a:r>
            <a:endParaRPr lang="en-US" sz="2800" dirty="0">
              <a:latin typeface="Times New Roman" panose="02020603050405020304" pitchFamily="18" charset="0"/>
              <a:cs typeface="Times New Roman" panose="02020603050405020304" pitchFamily="18" charset="0"/>
            </a:endParaRPr>
          </a:p>
        </p:txBody>
      </p:sp>
      <p:sp>
        <p:nvSpPr>
          <p:cNvPr id="4" name="Rectangle 1"/>
          <p:cNvSpPr>
            <a:spLocks noChangeArrowheads="1"/>
          </p:cNvSpPr>
          <p:nvPr/>
        </p:nvSpPr>
        <p:spPr bwMode="auto">
          <a:xfrm rot="10800000" flipV="1">
            <a:off x="1259840" y="718183"/>
            <a:ext cx="10474960" cy="4954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2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200000"/>
              </a:lnSpc>
              <a:spcBef>
                <a:spcPct val="0"/>
              </a:spcBef>
              <a:spcAft>
                <a:spcPct val="0"/>
              </a:spcAft>
              <a:buClrTx/>
              <a:buSzTx/>
              <a:buFontTx/>
              <a:buChar char="•"/>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YOLO and CNNs improve LPR accuracy and speed (Smith et al., 2022; Patel et al., 2020).</a:t>
            </a: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200000"/>
              </a:lnSpc>
              <a:spcBef>
                <a:spcPct val="0"/>
              </a:spcBef>
              <a:spcAft>
                <a:spcPct val="0"/>
              </a:spcAft>
              <a:buClrTx/>
              <a:buSzTx/>
              <a:buFontTx/>
              <a:buChar char="•"/>
            </a:pPr>
            <a:r>
              <a:rPr kumimoji="0" lang="en-IN"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OCR combined with YOLO enhances character recognition (Johnson &amp; Lee, 2021; Chen et al.,).</a:t>
            </a: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200000"/>
              </a:lnSpc>
              <a:spcBef>
                <a:spcPct val="0"/>
              </a:spcBef>
              <a:spcAft>
                <a:spcPct val="0"/>
              </a:spcAft>
              <a:buClrTx/>
              <a:buSzTx/>
              <a:buFontTx/>
              <a:buChar char="•"/>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Embedded platforms (i.MX 8M Plus) enable real-time LPR with low latency (Singh &amp; Sharma</a:t>
            </a:r>
            <a:r>
              <a:rPr kumimoji="0" lang="en-IN"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200000"/>
              </a:lnSpc>
              <a:spcBef>
                <a:spcPct val="0"/>
              </a:spcBef>
              <a:spcAft>
                <a:spcPct val="0"/>
              </a:spcAft>
              <a:buClrTx/>
              <a:buSzTx/>
              <a:buFontTx/>
              <a:buChar char="•"/>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Many systems </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lack real-time power monitoring.</a:t>
            </a: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200000"/>
              </a:lnSpc>
              <a:spcBef>
                <a:spcPct val="0"/>
              </a:spcBef>
              <a:spcAft>
                <a:spcPct val="0"/>
              </a:spcAft>
              <a:buClrTx/>
              <a:buSzTx/>
              <a:buFontTx/>
              <a:buChar char="•"/>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LPR aids traffic management and anomaly detection (Smith et al., 2021; Garcia &amp; Lee, 2019).</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200000"/>
              </a:lnSpc>
              <a:spcBef>
                <a:spcPct val="0"/>
              </a:spcBef>
              <a:spcAft>
                <a:spcPct val="0"/>
              </a:spcAft>
              <a:buClrTx/>
              <a:buSzTx/>
              <a:buFontTx/>
              <a:buChar char="•"/>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Encryption and blockchain ensure secure LPR data transmission (Wang et al., 2021; Chen &amp; Zhang, 2020).</a:t>
            </a: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99" name="Rectangle 1"/>
          <p:cNvSpPr/>
          <p:nvPr/>
        </p:nvSpPr>
        <p:spPr>
          <a:xfrm>
            <a:off x="0" y="0"/>
            <a:ext cx="4378960" cy="753035"/>
          </a:xfrm>
          <a:prstGeom prst="rect">
            <a:avLst/>
          </a:prstGeom>
          <a:solidFill>
            <a:schemeClr val="accent1">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Times New Roman" panose="02020603050405020304" pitchFamily="18" charset="0"/>
                <a:cs typeface="Times New Roman" panose="02020603050405020304" pitchFamily="18" charset="0"/>
              </a:rPr>
              <a:t>REFERENCES</a:t>
            </a:r>
            <a:endParaRPr lang="en-US" sz="2800" dirty="0">
              <a:latin typeface="Times New Roman" panose="02020603050405020304" pitchFamily="18" charset="0"/>
              <a:cs typeface="Times New Roman" panose="02020603050405020304" pitchFamily="18" charset="0"/>
            </a:endParaRPr>
          </a:p>
        </p:txBody>
      </p:sp>
      <p:sp>
        <p:nvSpPr>
          <p:cNvPr id="2" name="Rectangle 1"/>
          <p:cNvSpPr/>
          <p:nvPr/>
        </p:nvSpPr>
        <p:spPr>
          <a:xfrm>
            <a:off x="598805" y="1000125"/>
            <a:ext cx="11482705" cy="7262495"/>
          </a:xfrm>
          <a:prstGeom prst="rect">
            <a:avLst/>
          </a:prstGeom>
        </p:spPr>
        <p:txBody>
          <a:bodyPr wrap="square">
            <a:spAutoFit/>
          </a:bodyPr>
          <a:lstStyle/>
          <a:p>
            <a:pPr marL="285750" indent="-285750" algn="just">
              <a:buFont typeface="Wingdings" panose="05000000000000000000" pitchFamily="2" charset="2"/>
              <a:buChar char="Ø"/>
            </a:pPr>
            <a:r>
              <a:rPr lang="en-IN" altLang="en-US" sz="2000" b="1" dirty="0">
                <a:latin typeface="Times New Roman" panose="02020603050405020304" pitchFamily="18" charset="0"/>
                <a:cs typeface="Times New Roman" panose="02020603050405020304" pitchFamily="18" charset="0"/>
              </a:rPr>
              <a:t>PHYBOARD POLLUX I.MX8M PLUS</a:t>
            </a:r>
            <a:endParaRPr lang="en-IN" sz="2000" b="1" dirty="0">
              <a:latin typeface="Times New Roman" panose="02020603050405020304" pitchFamily="18" charset="0"/>
              <a:cs typeface="Times New Roman" panose="02020603050405020304" pitchFamily="18" charset="0"/>
            </a:endParaRPr>
          </a:p>
          <a:p>
            <a:pPr algn="just"/>
            <a:r>
              <a:rPr lang="en-IN" sz="2000" b="1" dirty="0"/>
              <a:t>          </a:t>
            </a:r>
            <a:endParaRPr lang="en-IN" sz="2000" b="1" dirty="0"/>
          </a:p>
          <a:p>
            <a:pPr algn="just"/>
            <a:r>
              <a:rPr lang="en-IN" b="1"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 ReferenceManual: Phyboard Pollux I.mxm plux Reference Manual.(</a:t>
            </a:r>
            <a:r>
              <a:rPr lang="en-US" altLang="en-US" dirty="0">
                <a:latin typeface="Times New Roman" panose="02020603050405020304" pitchFamily="18" charset="0"/>
                <a:cs typeface="Times New Roman" panose="02020603050405020304" pitchFamily="18" charset="0"/>
                <a:hlinkClick r:id="rId1" tooltip="" action="ppaction://hlinkfile"/>
              </a:rPr>
              <a:t>https://www.phytec.eu/en/produkte/system-on-modules/phycore-imx-8m-plus/#downloads/</a:t>
            </a:r>
            <a:r>
              <a:rPr lang="en-IN"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             Hardware,Software&amp;BSP Guide : Phyboardpollux imx8mp.(</a:t>
            </a:r>
            <a:r>
              <a:rPr lang="en-US" altLang="en-US" dirty="0">
                <a:latin typeface="Times New Roman" panose="02020603050405020304" pitchFamily="18" charset="0"/>
                <a:cs typeface="Times New Roman" panose="02020603050405020304" pitchFamily="18" charset="0"/>
                <a:hlinkClick r:id="rId2" tooltip="" action="ppaction://hlinkfile"/>
              </a:rPr>
              <a:t>https://www.phytec.de/cdocuments/?doc=LAC7Ig</a:t>
            </a:r>
            <a:r>
              <a:rPr lang="en-IN"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a:p>
            <a:pPr algn="just"/>
            <a:endParaRPr lang="en-IN" sz="2000" dirty="0"/>
          </a:p>
          <a:p>
            <a:pPr marL="285750" indent="-285750" algn="just">
              <a:buFont typeface="Wingdings" panose="05000000000000000000" pitchFamily="2" charset="2"/>
              <a:buChar char="Ø"/>
            </a:pPr>
            <a:r>
              <a:rPr lang="en-IN" sz="2000" dirty="0"/>
              <a:t> </a:t>
            </a:r>
            <a:r>
              <a:rPr lang="en-IN" sz="2000" b="1" dirty="0">
                <a:latin typeface="Times New Roman" panose="02020603050405020304" pitchFamily="18" charset="0"/>
                <a:cs typeface="Times New Roman" panose="02020603050405020304" pitchFamily="18" charset="0"/>
              </a:rPr>
              <a:t>PHYTEC CAMERA MODULE</a:t>
            </a:r>
            <a:endParaRPr lang="en-IN" sz="2000" b="1" dirty="0">
              <a:latin typeface="Times New Roman" panose="02020603050405020304" pitchFamily="18" charset="0"/>
              <a:cs typeface="Times New Roman" panose="02020603050405020304" pitchFamily="18" charset="0"/>
            </a:endParaRPr>
          </a:p>
          <a:p>
            <a:pPr algn="just"/>
            <a:r>
              <a:rPr lang="en-IN" sz="2000" dirty="0"/>
              <a:t>             </a:t>
            </a:r>
            <a:endParaRPr lang="en-IN" sz="2000" dirty="0"/>
          </a:p>
          <a:p>
            <a:pPr algn="just"/>
            <a:r>
              <a:rPr lang="en-IN" sz="2000" dirty="0"/>
              <a:t>            </a:t>
            </a:r>
            <a:r>
              <a:rPr lang="en-IN" dirty="0">
                <a:latin typeface="Times New Roman" panose="02020603050405020304" pitchFamily="18" charset="0"/>
                <a:cs typeface="Times New Roman" panose="02020603050405020304" pitchFamily="18" charset="0"/>
              </a:rPr>
              <a:t> Datasheet: Camera Module Datasheet.(</a:t>
            </a:r>
            <a:r>
              <a:rPr lang="en-US" altLang="en-US" sz="1800" dirty="0">
                <a:latin typeface="Times New Roman" panose="02020603050405020304" pitchFamily="18" charset="0"/>
                <a:cs typeface="Times New Roman" panose="02020603050405020304" pitchFamily="18" charset="0"/>
                <a:hlinkClick r:id="rId3" tooltip="" action="ppaction://hlinkfile"/>
              </a:rPr>
              <a:t>https://www.phytec.com/product/phycam-m-mipi-csi-2/</a:t>
            </a:r>
            <a:r>
              <a:rPr lang="en-US" sz="1800"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IN" sz="2000" dirty="0">
                <a:sym typeface="+mn-ea"/>
              </a:rPr>
              <a:t> </a:t>
            </a:r>
            <a:r>
              <a:rPr lang="en-IN" sz="2000" b="1" dirty="0">
                <a:latin typeface="Times New Roman" panose="02020603050405020304" pitchFamily="18" charset="0"/>
                <a:cs typeface="Times New Roman" panose="02020603050405020304" pitchFamily="18" charset="0"/>
                <a:sym typeface="+mn-ea"/>
              </a:rPr>
              <a:t>ULTRALYTICS </a:t>
            </a:r>
            <a:r>
              <a:rPr lang="en-IN" sz="2000" b="1" dirty="0">
                <a:latin typeface="Times New Roman" panose="02020603050405020304" pitchFamily="18" charset="0"/>
                <a:cs typeface="Times New Roman" panose="02020603050405020304" pitchFamily="18" charset="0"/>
                <a:sym typeface="+mn-ea"/>
              </a:rPr>
              <a:t>YOLO</a:t>
            </a:r>
            <a:endParaRPr lang="en-IN" sz="2000" b="1" dirty="0">
              <a:latin typeface="Times New Roman" panose="02020603050405020304" pitchFamily="18" charset="0"/>
              <a:cs typeface="Times New Roman" panose="02020603050405020304" pitchFamily="18" charset="0"/>
              <a:sym typeface="+mn-ea"/>
            </a:endParaRPr>
          </a:p>
          <a:p>
            <a:pPr indent="0" algn="just">
              <a:buFont typeface="Wingdings" panose="05000000000000000000" pitchFamily="2" charset="2"/>
              <a:buNone/>
            </a:pPr>
            <a:r>
              <a:rPr lang="en-IN" sz="2000" b="1" dirty="0">
                <a:latin typeface="Times New Roman" panose="02020603050405020304" pitchFamily="18" charset="0"/>
                <a:cs typeface="Times New Roman" panose="02020603050405020304" pitchFamily="18" charset="0"/>
                <a:sym typeface="+mn-ea"/>
              </a:rPr>
              <a:t>            </a:t>
            </a:r>
            <a:endParaRPr lang="en-IN" sz="2000" b="1" dirty="0">
              <a:latin typeface="Times New Roman" panose="02020603050405020304" pitchFamily="18" charset="0"/>
              <a:cs typeface="Times New Roman" panose="02020603050405020304" pitchFamily="18" charset="0"/>
              <a:sym typeface="+mn-ea"/>
            </a:endParaRPr>
          </a:p>
          <a:p>
            <a:pPr indent="0" algn="just">
              <a:buFont typeface="Wingdings" panose="05000000000000000000" pitchFamily="2" charset="2"/>
              <a:buNone/>
            </a:pPr>
            <a:r>
              <a:rPr lang="en-IN" sz="2000" b="1" dirty="0">
                <a:latin typeface="Times New Roman" panose="02020603050405020304" pitchFamily="18" charset="0"/>
                <a:cs typeface="Times New Roman" panose="02020603050405020304" pitchFamily="18" charset="0"/>
                <a:sym typeface="+mn-ea"/>
              </a:rPr>
              <a:t>         </a:t>
            </a:r>
            <a:r>
              <a:rPr lang="en-IN" b="1" dirty="0">
                <a:latin typeface="Times New Roman" panose="02020603050405020304" pitchFamily="18" charset="0"/>
                <a:cs typeface="Times New Roman" panose="02020603050405020304" pitchFamily="18" charset="0"/>
                <a:sym typeface="+mn-ea"/>
              </a:rPr>
              <a:t>  </a:t>
            </a:r>
            <a:r>
              <a:rPr lang="en-IN" dirty="0">
                <a:latin typeface="Times New Roman" panose="02020603050405020304" pitchFamily="18" charset="0"/>
                <a:cs typeface="Times New Roman" panose="02020603050405020304" pitchFamily="18" charset="0"/>
                <a:sym typeface="+mn-ea"/>
              </a:rPr>
              <a:t>Yolo-You Only </a:t>
            </a:r>
            <a:r>
              <a:rPr lang="en-IN" dirty="0">
                <a:latin typeface="Times New Roman" panose="02020603050405020304" pitchFamily="18" charset="0"/>
                <a:cs typeface="Times New Roman" panose="02020603050405020304" pitchFamily="18" charset="0"/>
                <a:sym typeface="+mn-ea"/>
              </a:rPr>
              <a:t>Look Once</a:t>
            </a:r>
            <a:r>
              <a:rPr lang="en-IN" dirty="0" err="1">
                <a:latin typeface="Times New Roman" panose="02020603050405020304" pitchFamily="18" charset="0"/>
                <a:cs typeface="Times New Roman" panose="02020603050405020304" pitchFamily="18" charset="0"/>
                <a:sym typeface="+mn-ea"/>
              </a:rPr>
              <a:t>:Yolo For License plate Detection.(</a:t>
            </a:r>
            <a:r>
              <a:rPr lang="en-US" altLang="en-US" dirty="0">
                <a:latin typeface="Times New Roman" panose="02020603050405020304" pitchFamily="18" charset="0"/>
                <a:cs typeface="Times New Roman" panose="02020603050405020304" pitchFamily="18" charset="0"/>
                <a:sym typeface="+mn-ea"/>
                <a:hlinkClick r:id="rId4" action="ppaction://hlinkfile"/>
              </a:rPr>
              <a:t>https://docs.ultralytics.com/tasks/detect/</a:t>
            </a:r>
            <a:r>
              <a:rPr lang="en-US" dirty="0">
                <a:latin typeface="Times New Roman" panose="02020603050405020304" pitchFamily="18" charset="0"/>
                <a:cs typeface="Times New Roman" panose="02020603050405020304" pitchFamily="18" charset="0"/>
                <a:sym typeface="+mn-ea"/>
              </a:rPr>
              <a:t>)</a:t>
            </a:r>
            <a:endParaRPr lang="en-US"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endParaRPr lang="en-IN" sz="2000" b="1" dirty="0">
              <a:latin typeface="Times New Roman" panose="02020603050405020304" pitchFamily="18" charset="0"/>
              <a:cs typeface="Times New Roman" panose="02020603050405020304" pitchFamily="18" charset="0"/>
              <a:sym typeface="+mn-ea"/>
            </a:endParaRPr>
          </a:p>
          <a:p>
            <a:pPr marL="342900" indent="-342900" algn="just">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sym typeface="+mn-ea"/>
              </a:rPr>
              <a:t>TENSORFLOW LITE</a:t>
            </a:r>
            <a:endParaRPr lang="en-IN" sz="2000" b="1" dirty="0">
              <a:latin typeface="Times New Roman" panose="02020603050405020304" pitchFamily="18" charset="0"/>
              <a:cs typeface="Times New Roman" panose="02020603050405020304" pitchFamily="18" charset="0"/>
              <a:sym typeface="+mn-ea"/>
            </a:endParaRPr>
          </a:p>
          <a:p>
            <a:pPr indent="0" algn="just">
              <a:buFont typeface="Wingdings" panose="05000000000000000000" pitchFamily="2" charset="2"/>
              <a:buNone/>
            </a:pPr>
            <a:r>
              <a:rPr lang="en-IN" sz="2000" b="1" dirty="0">
                <a:latin typeface="Times New Roman" panose="02020603050405020304" pitchFamily="18" charset="0"/>
                <a:cs typeface="Times New Roman" panose="02020603050405020304" pitchFamily="18" charset="0"/>
                <a:sym typeface="+mn-ea"/>
              </a:rPr>
              <a:t>            </a:t>
            </a:r>
            <a:endParaRPr lang="en-IN" sz="2000" b="1" dirty="0">
              <a:latin typeface="Times New Roman" panose="02020603050405020304" pitchFamily="18" charset="0"/>
              <a:cs typeface="Times New Roman" panose="02020603050405020304" pitchFamily="18" charset="0"/>
              <a:sym typeface="+mn-ea"/>
            </a:endParaRPr>
          </a:p>
          <a:p>
            <a:pPr indent="0" algn="just">
              <a:buFont typeface="Wingdings" panose="05000000000000000000" pitchFamily="2" charset="2"/>
              <a:buNone/>
            </a:pPr>
            <a:r>
              <a:rPr lang="en-IN" sz="2000" b="1" dirty="0">
                <a:latin typeface="Times New Roman" panose="02020603050405020304" pitchFamily="18" charset="0"/>
                <a:cs typeface="Times New Roman" panose="02020603050405020304" pitchFamily="18" charset="0"/>
                <a:sym typeface="+mn-ea"/>
              </a:rPr>
              <a:t>           </a:t>
            </a:r>
            <a:r>
              <a:rPr lang="en-IN" b="1" dirty="0">
                <a:latin typeface="Times New Roman" panose="02020603050405020304" pitchFamily="18" charset="0"/>
                <a:cs typeface="Times New Roman" panose="02020603050405020304" pitchFamily="18" charset="0"/>
                <a:sym typeface="+mn-ea"/>
              </a:rPr>
              <a:t> </a:t>
            </a:r>
            <a:r>
              <a:rPr lang="en-US" altLang="en-US" dirty="0">
                <a:latin typeface="Times New Roman" panose="02020603050405020304" pitchFamily="18" charset="0"/>
                <a:cs typeface="Times New Roman" panose="02020603050405020304" pitchFamily="18" charset="0"/>
                <a:sym typeface="+mn-ea"/>
              </a:rPr>
              <a:t>TensorFlow Lite Documentation:</a:t>
            </a:r>
            <a:r>
              <a:rPr lang="en-IN" altLang="en-US" dirty="0">
                <a:latin typeface="Times New Roman" panose="02020603050405020304" pitchFamily="18" charset="0"/>
                <a:cs typeface="Times New Roman" panose="02020603050405020304" pitchFamily="18" charset="0"/>
                <a:sym typeface="+mn-ea"/>
              </a:rPr>
              <a:t>tensorflow lites models for tiny devices(</a:t>
            </a:r>
            <a:r>
              <a:rPr lang="en-US" altLang="en-US" dirty="0">
                <a:latin typeface="Times New Roman" panose="02020603050405020304" pitchFamily="18" charset="0"/>
                <a:cs typeface="Times New Roman" panose="02020603050405020304" pitchFamily="18" charset="0"/>
                <a:sym typeface="+mn-ea"/>
                <a:hlinkClick r:id="rId5" tooltip="" action="ppaction://hlinkfile"/>
              </a:rPr>
              <a:t> https://www.tensorflow.org/lit</a:t>
            </a:r>
            <a:r>
              <a:rPr lang="en-IN" altLang="en-US" dirty="0">
                <a:latin typeface="Times New Roman" panose="02020603050405020304" pitchFamily="18" charset="0"/>
                <a:cs typeface="Times New Roman" panose="02020603050405020304" pitchFamily="18" charset="0"/>
                <a:sym typeface="+mn-ea"/>
                <a:hlinkClick r:id="rId5" tooltip="" action="ppaction://hlinkfile"/>
              </a:rPr>
              <a:t>e</a:t>
            </a:r>
            <a:r>
              <a:rPr lang="en-IN" altLang="en-US" dirty="0">
                <a:latin typeface="Times New Roman" panose="02020603050405020304" pitchFamily="18" charset="0"/>
                <a:cs typeface="Times New Roman" panose="02020603050405020304" pitchFamily="18" charset="0"/>
                <a:sym typeface="+mn-ea"/>
              </a:rPr>
              <a:t>)</a:t>
            </a:r>
            <a:endParaRPr lang="en-US" altLang="en-US" dirty="0">
              <a:latin typeface="Times New Roman" panose="02020603050405020304" pitchFamily="18" charset="0"/>
              <a:cs typeface="Times New Roman" panose="02020603050405020304" pitchFamily="18" charset="0"/>
              <a:sym typeface="+mn-ea"/>
            </a:endParaRPr>
          </a:p>
          <a:p>
            <a:pPr marL="342900" indent="-342900" algn="just">
              <a:buFont typeface="Wingdings" panose="05000000000000000000" pitchFamily="2" charset="2"/>
              <a:buChar char="Ø"/>
            </a:pPr>
            <a:endParaRPr lang="en-IN" sz="2000" b="1" dirty="0">
              <a:latin typeface="Times New Roman" panose="02020603050405020304" pitchFamily="18" charset="0"/>
              <a:cs typeface="Times New Roman" panose="02020603050405020304" pitchFamily="18" charset="0"/>
              <a:sym typeface="+mn-ea"/>
            </a:endParaRPr>
          </a:p>
          <a:p>
            <a:pPr marL="342900" indent="-342900" algn="just">
              <a:buFont typeface="Wingdings" panose="05000000000000000000" pitchFamily="2" charset="2"/>
              <a:buChar char="Ø"/>
            </a:pPr>
            <a:endParaRPr lang="en-IN" sz="2000" b="1" dirty="0">
              <a:latin typeface="Times New Roman" panose="02020603050405020304" pitchFamily="18" charset="0"/>
              <a:cs typeface="Times New Roman" panose="02020603050405020304" pitchFamily="18" charset="0"/>
            </a:endParaRPr>
          </a:p>
          <a:p>
            <a:pPr algn="just"/>
            <a:r>
              <a:rPr lang="en-US" sz="2000" dirty="0"/>
              <a:t> </a:t>
            </a:r>
            <a:r>
              <a:rPr lang="en-IN" sz="2000" dirty="0"/>
              <a:t>             </a:t>
            </a:r>
            <a:endParaRPr lang="en-US" sz="1800" dirty="0">
              <a:latin typeface="Times New Roman" panose="02020603050405020304" pitchFamily="18" charset="0"/>
              <a:cs typeface="Times New Roman" panose="02020603050405020304" pitchFamily="18" charset="0"/>
            </a:endParaRPr>
          </a:p>
          <a:p>
            <a:r>
              <a:rPr lang="en-IN" dirty="0">
                <a:sym typeface="+mn-ea"/>
              </a:rPr>
              <a:t> </a:t>
            </a:r>
            <a:endParaRPr lang="en-IN" b="1" dirty="0">
              <a:latin typeface="Times New Roman" panose="02020603050405020304" pitchFamily="18" charset="0"/>
              <a:cs typeface="Times New Roman" panose="02020603050405020304" pitchFamily="18" charset="0"/>
              <a:sym typeface="+mn-ea"/>
            </a:endParaRPr>
          </a:p>
          <a:p>
            <a:endParaRPr lang="en-IN" dirty="0">
              <a:latin typeface="Times New Roman" panose="02020603050405020304" pitchFamily="18" charset="0"/>
              <a:cs typeface="Times New Roman" panose="02020603050405020304" pitchFamily="18" charset="0"/>
            </a:endParaRPr>
          </a:p>
          <a:p>
            <a:endParaRPr lang="en-IN"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p:nvPr/>
        </p:nvPicPr>
        <p:blipFill>
          <a:blip r:embed="rId1"/>
          <a:stretch>
            <a:fillRect/>
          </a:stretch>
        </p:blipFill>
        <p:spPr>
          <a:xfrm>
            <a:off x="1165225" y="-375920"/>
            <a:ext cx="8890635" cy="7233920"/>
          </a:xfrm>
          <a:prstGeom prst="rect">
            <a:avLst/>
          </a:prstGeom>
        </p:spPr>
      </p:pic>
      <p:pic>
        <p:nvPicPr>
          <p:cNvPr id="4" name="Picture 3"/>
          <p:cNvPicPr/>
          <p:nvPr/>
        </p:nvPicPr>
        <p:blipFill>
          <a:blip r:embed="rId2"/>
          <a:stretch>
            <a:fillRect/>
          </a:stretch>
        </p:blipFill>
        <p:spPr>
          <a:xfrm>
            <a:off x="-4661535" y="0"/>
            <a:ext cx="6945630" cy="6858000"/>
          </a:xfrm>
          <a:prstGeom prst="rect">
            <a:avLst/>
          </a:prstGeom>
        </p:spPr>
      </p:pic>
      <p:pic>
        <p:nvPicPr>
          <p:cNvPr id="6" name="Picture 5"/>
          <p:cNvPicPr/>
          <p:nvPr/>
        </p:nvPicPr>
        <p:blipFill>
          <a:blip r:embed="rId2"/>
          <a:stretch>
            <a:fillRect/>
          </a:stretch>
        </p:blipFill>
        <p:spPr>
          <a:xfrm>
            <a:off x="8434070" y="-227965"/>
            <a:ext cx="4602480" cy="721296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3070</Words>
  <Application>WPS Slides</Application>
  <PresentationFormat>Widescreen</PresentationFormat>
  <Paragraphs>115</Paragraphs>
  <Slides>9</Slides>
  <Notes>6</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9</vt:i4>
      </vt:variant>
    </vt:vector>
  </HeadingPairs>
  <TitlesOfParts>
    <vt:vector size="18" baseType="lpstr">
      <vt:lpstr>Arial</vt:lpstr>
      <vt:lpstr>SimSun</vt:lpstr>
      <vt:lpstr>Wingdings</vt:lpstr>
      <vt:lpstr>Times New Roman</vt:lpstr>
      <vt:lpstr>DejaVu Sans</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HARDWARE’S </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Muruga Kannan</dc:creator>
  <cp:lastModifiedBy>Massy tamilan</cp:lastModifiedBy>
  <cp:revision>286</cp:revision>
  <dcterms:created xsi:type="dcterms:W3CDTF">2019-03-07T20:00:00Z</dcterms:created>
  <dcterms:modified xsi:type="dcterms:W3CDTF">2025-05-11T09:31:36Z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6AD997DC86ED4DCDA866E89804924748_13</vt:lpwstr>
  </property>
  <property fmtid="{D5CDD505-2E9C-101B-9397-08002B2CF9AE}" pid="3" name="KSOProductBuildVer">
    <vt:lpwstr>1033-12.2.0.20795</vt:lpwstr>
  </property>
</Properties>
</file>